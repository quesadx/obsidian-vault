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cd7abe2f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cd7abe2f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d7abe2f6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d7abe2f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cd7abe2f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cd7abe2f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cd7abe2f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cd7abe2f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cd7abe2f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cd7abe2f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cd7abe2f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cd7abe2f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cd7abe2f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cd7abe2f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cd7abe2f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cd7abe2f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d7abe2f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cd7abe2f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cd7abe2f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cd7abe2f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cd7abe2f6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cd7abe2f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cd7abe2f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cd7abe2f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cd7abe2f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cd7abe2f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cd7abe2f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cd7abe2f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cd7abe2f6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cd7abe2f6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cd7abe2f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cd7abe2f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cd7abe2f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cd7abe2f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cd7abe2f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cd7abe2f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cd7abe2f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cd7abe2f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cd7abe2f6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cd7abe2f6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cd7abe2f6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cd7abe2f6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2708100" y="1646250"/>
            <a:ext cx="3727800" cy="14916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46900" y="2161200"/>
            <a:ext cx="325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./tutoria-mategen-2.sh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17250" y="3520563"/>
            <a:ext cx="130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b="1" lang="es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cat $DATE</a:t>
            </a:r>
            <a:endParaRPr b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FE2F3"/>
                </a:solidFill>
                <a:latin typeface="Roboto Mono"/>
                <a:ea typeface="Roboto Mono"/>
                <a:cs typeface="Roboto Mono"/>
                <a:sym typeface="Roboto Mono"/>
              </a:rPr>
              <a:t>04-feb-2026</a:t>
            </a:r>
            <a:endParaRPr sz="1200">
              <a:solidFill>
                <a:srgbClr val="CFE2F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01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4865700" y="625263"/>
            <a:ext cx="3727800" cy="3808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61200" y="163925"/>
            <a:ext cx="325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qué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es factorizar?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0100" y="895375"/>
            <a:ext cx="438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Proceso matemático que consiste en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descomponer una expresión en el producto de factores más simples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02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0" name="Google Shape;70;p14" title="{&quot;red&quot;:255,&quot;green&quot;:255,&quot;blue&quot;:255,&quot;origURL&quot;:&quot;https://www.codecogs.com/eqnedit.php?latex=x%5E2%20-%209%20%3D%20(x%20-%203)(x%20%2B%203)#0&quot;,&quot;size&quot;:28,&quot;width&quot;:302.88188976377955,&quot;height&quot;:85.0629921259842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440" y="2429025"/>
            <a:ext cx="2560319" cy="285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1200" y="163925"/>
            <a:ext cx="325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qué es un coeficiente?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10100" y="895375"/>
            <a:ext cx="438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Es el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número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acompaña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 una letra!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02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800" y="1938513"/>
            <a:ext cx="1182300" cy="11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4858500" y="625250"/>
            <a:ext cx="3727800" cy="3808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demostracion de la clase pasada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10100" y="895375"/>
            <a:ext cx="438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Proceso matemático que consiste en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descomponer una expresión en el producto de factores más simples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03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966800" y="2988450"/>
            <a:ext cx="4386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2" name="Google Shape;92;p16" title="{&quot;red&quot;:255,&quot;green&quot;:255,&quot;blue&quot;:255,&quot;origURL&quot;:&quot;https://www.codecogs.com/eqnedit.php?latex=(a%2Bb)%5E2#0&quot;,&quot;size&quot;:18,&quot;width&quot;:345.3543307086614,&quot;height&quot;:254.5275590551181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863" y="1500663"/>
            <a:ext cx="800671" cy="28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{&quot;red&quot;:255,&quot;green&quot;:255,&quot;blue&quot;:255,&quot;origURL&quot;:&quot;https://www.codecogs.com/eqnedit.php?latex=%3D(a%2Bb)(a%2Bb)#0&quot;,&quot;size&quot;:18,&quot;width&quot;:345.3543307086614,&quot;height&quot;:254.5275590551181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6787" y="1546463"/>
            <a:ext cx="1578999" cy="2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{&quot;red&quot;:255,&quot;green&quot;:255,&quot;blue&quot;:255,&quot;origURL&quot;:&quot;https://www.codecogs.com/eqnedit.php?latex=%3Da(a%2Bb)%2Bb(a%2Bb)#0&quot;,&quot;size&quot;:18,&quot;width&quot;:345.3543307086614,&quot;height&quot;:254.5275590551181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0875" y="2035375"/>
            <a:ext cx="2083053" cy="23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{&quot;red&quot;:255,&quot;green&quot;:255,&quot;blue&quot;:255,&quot;origURL&quot;:&quot;https://www.codecogs.com/eqnedit.php?latex=%3Da%5E2%2Bab%2Bba%2Bb%5E2#0&quot;,&quot;size&quot;:18,&quot;width&quot;:345.3543307086614,&quot;height&quot;:254.5275590551181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9437" y="2524275"/>
            <a:ext cx="1645922" cy="1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{&quot;red&quot;:255,&quot;green&quot;:255,&quot;blue&quot;:255,&quot;origURL&quot;:&quot;https://www.codecogs.com/eqnedit.php?latex=%3Da%5E2%2Bab%2Bab%2Bb%5E2#0&quot;,&quot;size&quot;:18,&quot;width&quot;:345.3543307086614,&quot;height&quot;:254.5275590551181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9437" y="2965013"/>
            <a:ext cx="1645922" cy="1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 title="{&quot;red&quot;:255,&quot;green&quot;:255,&quot;blue&quot;:255,&quot;origURL&quot;:&quot;https://www.codecogs.com/eqnedit.php?latex=%3Da%5E2%2B2ab%2Bb%5E2#0&quot;,&quot;size&quot;:18,&quot;width&quot;:345.3543307086614,&quot;height&quot;:254.5275590551181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9438" y="3405750"/>
            <a:ext cx="1645921" cy="237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931963" y="2063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457300" y="2063850"/>
            <a:ext cx="43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Consiste en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descomponer trinomios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(especiales)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en el producto de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binomios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04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4966800" y="2988450"/>
            <a:ext cx="4386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900" y="2390763"/>
            <a:ext cx="195262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sencillo: factorice</a:t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05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863" y="1238775"/>
            <a:ext cx="18002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357000" y="2264688"/>
            <a:ext cx="438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paso 1: Dos numeros que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den el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término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independiente</a:t>
            </a:r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357000" y="3584375"/>
            <a:ext cx="438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paso 2: Dos numeros que sumados den el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término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central</a:t>
            </a:r>
            <a:endParaRPr/>
          </a:p>
        </p:txBody>
      </p:sp>
      <p:sp>
        <p:nvSpPr>
          <p:cNvPr id="123" name="Google Shape;123;p18"/>
          <p:cNvSpPr txBox="1"/>
          <p:nvPr/>
        </p:nvSpPr>
        <p:spPr>
          <a:xfrm>
            <a:off x="5549825" y="2942075"/>
            <a:ext cx="286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condiciones?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4708800" y="2354400"/>
            <a:ext cx="417600" cy="2276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762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sencillo: factorice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06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863" y="1238775"/>
            <a:ext cx="1800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213" y="3961788"/>
            <a:ext cx="216217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595425" y="2497488"/>
            <a:ext cx="395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son 2 y 3! 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Entonces, la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factorización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queda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así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medio: factorice</a:t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07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48" name="Google Shape;14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5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2327050" y="2709250"/>
            <a:ext cx="455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 en este contexto?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10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Sumados: -7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medio: factorice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08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5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 txBox="1"/>
          <p:nvPr/>
        </p:nvSpPr>
        <p:spPr>
          <a:xfrm>
            <a:off x="274925" y="2492313"/>
            <a:ext cx="8594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 en este contexto?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10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Sumados: -7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Pista: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Si la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multiplicación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da positiva pero la suma da negativa, como cree que sean los signos de los dos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números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medio: factorice</a:t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09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45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 txBox="1"/>
          <p:nvPr/>
        </p:nvSpPr>
        <p:spPr>
          <a:xfrm>
            <a:off x="274925" y="2492313"/>
            <a:ext cx="859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 en este contexto?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10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Sumados: -7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Son -2 y -5! Entonces queda el resultado: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4" name="Google Shape;17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1675" y="3649288"/>
            <a:ext cx="21621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alto: factorice</a:t>
            </a:r>
            <a:endParaRPr/>
          </a:p>
        </p:txBody>
      </p:sp>
      <p:sp>
        <p:nvSpPr>
          <p:cNvPr id="183" name="Google Shape;183;p23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10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274925" y="2492313"/>
            <a:ext cx="859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 en este contexto?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-8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Sumados: 2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863" y="1238763"/>
            <a:ext cx="1800225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/>
          <p:nvPr/>
        </p:nvSpPr>
        <p:spPr>
          <a:xfrm>
            <a:off x="3327725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alto: factorice</a:t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11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274925" y="2492313"/>
            <a:ext cx="8594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 valores cumplen estas dos condiciones en este contexto?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-8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Sumados: 2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Son -2 y 4! Entonces: 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863" y="1238763"/>
            <a:ext cx="1800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850" y="3649313"/>
            <a:ext cx="21621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feo: factorice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12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274925" y="2492313"/>
            <a:ext cx="859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Acá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sucede algo especial! Cuando el valor que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acompaña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a la x² es diferente a 1, se hace un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método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diferente!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2x²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3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375" y="1238763"/>
            <a:ext cx="1981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 rot="-1219437">
            <a:off x="5102481" y="3323466"/>
            <a:ext cx="4386059" cy="461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(explicar)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feo: factorice</a:t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13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274925" y="2492313"/>
            <a:ext cx="8594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Queda acomodado: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2x -&gt; 1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+ 3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 factorizado: 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375" y="1238763"/>
            <a:ext cx="1981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3625" y="3929963"/>
            <a:ext cx="2343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 2: factorice</a:t>
            </a:r>
            <a:endParaRPr/>
          </a:p>
        </p:txBody>
      </p:sp>
      <p:sp>
        <p:nvSpPr>
          <p:cNvPr id="234" name="Google Shape;234;p27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14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274925" y="2492313"/>
            <a:ext cx="859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Dos numeros que: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3x²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4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 2: factorice</a:t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15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274950" y="2213863"/>
            <a:ext cx="8594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Dos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números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3x²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4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Ish, pueden ser 3x y x en el primero, pero, y el 4?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4 x 1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 x 1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9" name="Google Shape;24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9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 2: factorice</a:t>
            </a:r>
            <a:endParaRPr/>
          </a:p>
        </p:txBody>
      </p:sp>
      <p:sp>
        <p:nvSpPr>
          <p:cNvPr id="258" name="Google Shape;258;p29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9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16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274950" y="2213863"/>
            <a:ext cx="8594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Dos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números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que: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3x²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4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4 x 1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2 x 1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Ahí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es donde toca inspeccionar combinaciones y ver cual pega!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1" name="Google Shape;2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 rot="-1219437">
            <a:off x="5759981" y="2581854"/>
            <a:ext cx="4386059" cy="4616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(explicar)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0"/>
          <p:cNvSpPr/>
          <p:nvPr/>
        </p:nvSpPr>
        <p:spPr>
          <a:xfrm>
            <a:off x="3327750" y="911838"/>
            <a:ext cx="2488500" cy="10158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0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2379000" y="299850"/>
            <a:ext cx="438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feo 2: factorice</a:t>
            </a:r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0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17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3" name="Google Shape;273;p30"/>
          <p:cNvSpPr txBox="1"/>
          <p:nvPr/>
        </p:nvSpPr>
        <p:spPr>
          <a:xfrm>
            <a:off x="274950" y="2213863"/>
            <a:ext cx="8594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Dos números que: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3x²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Multiplicados: 4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Factorizado: 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4" name="Google Shape;27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00" y="1238775"/>
            <a:ext cx="1981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7100" y="3920001"/>
            <a:ext cx="2343150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1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1"/>
          <p:cNvSpPr/>
          <p:nvPr/>
        </p:nvSpPr>
        <p:spPr>
          <a:xfrm>
            <a:off x="3129375" y="904101"/>
            <a:ext cx="3006600" cy="11172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inspección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3" name="Google Shape;283;p31"/>
          <p:cNvSpPr txBox="1"/>
          <p:nvPr/>
        </p:nvSpPr>
        <p:spPr>
          <a:xfrm>
            <a:off x="2379000" y="299850"/>
            <a:ext cx="498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ejemplo individual 1: factorice</a:t>
            </a:r>
            <a:endParaRPr/>
          </a:p>
        </p:txBody>
      </p:sp>
      <p:sp>
        <p:nvSpPr>
          <p:cNvPr id="284" name="Google Shape;284;p31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19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6" name="Google Shape;2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750" y="1281713"/>
            <a:ext cx="26098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formulas notables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3848700" y="377300"/>
            <a:ext cx="164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Pausa!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Demuestre: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20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6" name="Google Shape;2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463" y="2024438"/>
            <a:ext cx="47910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463" y="3139788"/>
            <a:ext cx="47910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3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3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división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sintética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147100" y="795475"/>
            <a:ext cx="4504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Es una forma de factorizar un polinomio de grado 3 o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más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Resuelvan: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21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7" name="Google Shape;3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2618000"/>
            <a:ext cx="33337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4"/>
          <p:cNvSpPr/>
          <p:nvPr/>
        </p:nvSpPr>
        <p:spPr>
          <a:xfrm>
            <a:off x="0" y="4972325"/>
            <a:ext cx="9144000" cy="171300"/>
          </a:xfrm>
          <a:prstGeom prst="rect">
            <a:avLst/>
          </a:prstGeom>
          <a:solidFill>
            <a:srgbClr val="783F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4"/>
          <p:cNvSpPr txBox="1"/>
          <p:nvPr/>
        </p:nvSpPr>
        <p:spPr>
          <a:xfrm>
            <a:off x="61200" y="163925"/>
            <a:ext cx="459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división sintética</a:t>
            </a:r>
            <a:endParaRPr b="1"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4" name="Google Shape;314;p34"/>
          <p:cNvSpPr txBox="1"/>
          <p:nvPr/>
        </p:nvSpPr>
        <p:spPr>
          <a:xfrm>
            <a:off x="147100" y="795475"/>
            <a:ext cx="5846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0FF00"/>
                </a:solidFill>
                <a:latin typeface="Roboto Mono"/>
                <a:ea typeface="Roboto Mono"/>
                <a:cs typeface="Roboto Mono"/>
                <a:sym typeface="Roboto Mono"/>
              </a:rPr>
              <a:t>$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Consiste en: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Acomodar coeficientes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Buscar posibles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raíces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Probar alguna 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raíz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sintéticamente</a:t>
            </a: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ono"/>
              <a:buChar char="-"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Factorizar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Resuelvan:</a:t>
            </a:r>
            <a:endParaRPr sz="1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0" y="0"/>
            <a:ext cx="9144000" cy="87000"/>
          </a:xfrm>
          <a:prstGeom prst="rect">
            <a:avLst/>
          </a:prstGeom>
          <a:solidFill>
            <a:srgbClr val="B45F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4"/>
          <p:cNvSpPr txBox="1"/>
          <p:nvPr/>
        </p:nvSpPr>
        <p:spPr>
          <a:xfrm>
            <a:off x="0" y="4904075"/>
            <a:ext cx="11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INSERT | page 22</a:t>
            </a:r>
            <a:endParaRPr sz="8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7" name="Google Shape;3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6100" y="3199000"/>
            <a:ext cx="297180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