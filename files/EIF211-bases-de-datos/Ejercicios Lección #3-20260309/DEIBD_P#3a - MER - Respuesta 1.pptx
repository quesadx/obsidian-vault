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3B4F-B5C8-442A-8C2D-DEA9B5AC0A0C}" type="datetimeFigureOut">
              <a:rPr lang="es-CR" smtClean="0"/>
              <a:t>17/02/2016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051D-8357-4334-ACA1-25BBD65C585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611194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3B4F-B5C8-442A-8C2D-DEA9B5AC0A0C}" type="datetimeFigureOut">
              <a:rPr lang="es-CR" smtClean="0"/>
              <a:t>17/02/2016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051D-8357-4334-ACA1-25BBD65C585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153800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3B4F-B5C8-442A-8C2D-DEA9B5AC0A0C}" type="datetimeFigureOut">
              <a:rPr lang="es-CR" smtClean="0"/>
              <a:t>17/02/2016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051D-8357-4334-ACA1-25BBD65C585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801382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3B4F-B5C8-442A-8C2D-DEA9B5AC0A0C}" type="datetimeFigureOut">
              <a:rPr lang="es-CR" smtClean="0"/>
              <a:t>17/02/2016</a:t>
            </a:fld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051D-8357-4334-ACA1-25BBD65C585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512693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3B4F-B5C8-442A-8C2D-DEA9B5AC0A0C}" type="datetimeFigureOut">
              <a:rPr lang="es-CR" smtClean="0"/>
              <a:t>17/02/2016</a:t>
            </a:fld>
            <a:endParaRPr lang="es-C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051D-8357-4334-ACA1-25BBD65C585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140566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3B4F-B5C8-442A-8C2D-DEA9B5AC0A0C}" type="datetimeFigureOut">
              <a:rPr lang="es-CR" smtClean="0"/>
              <a:t>17/02/2016</a:t>
            </a:fld>
            <a:endParaRPr lang="es-C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051D-8357-4334-ACA1-25BBD65C585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282161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3B4F-B5C8-442A-8C2D-DEA9B5AC0A0C}" type="datetimeFigureOut">
              <a:rPr lang="es-CR" smtClean="0"/>
              <a:t>17/02/2016</a:t>
            </a:fld>
            <a:endParaRPr lang="es-C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051D-8357-4334-ACA1-25BBD65C585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224241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3B4F-B5C8-442A-8C2D-DEA9B5AC0A0C}" type="datetimeFigureOut">
              <a:rPr lang="es-CR" smtClean="0"/>
              <a:t>17/02/2016</a:t>
            </a:fld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051D-8357-4334-ACA1-25BBD65C585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685983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3B4F-B5C8-442A-8C2D-DEA9B5AC0A0C}" type="datetimeFigureOut">
              <a:rPr lang="es-CR" smtClean="0"/>
              <a:t>17/02/2016</a:t>
            </a:fld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051D-8357-4334-ACA1-25BBD65C585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57344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3B4F-B5C8-442A-8C2D-DEA9B5AC0A0C}" type="datetimeFigureOut">
              <a:rPr lang="es-CR" smtClean="0"/>
              <a:t>17/02/2016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051D-8357-4334-ACA1-25BBD65C585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65890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3B4F-B5C8-442A-8C2D-DEA9B5AC0A0C}" type="datetimeFigureOut">
              <a:rPr lang="es-CR" smtClean="0"/>
              <a:t>17/02/2016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051D-8357-4334-ACA1-25BBD65C585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756630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5D3B4F-B5C8-442A-8C2D-DEA9B5AC0A0C}" type="datetimeFigureOut">
              <a:rPr lang="es-CR" smtClean="0"/>
              <a:t>17/02/2016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3D051D-8357-4334-ACA1-25BBD65C585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1708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09449" y="1797266"/>
            <a:ext cx="10673254" cy="2333297"/>
          </a:xfrm>
        </p:spPr>
        <p:txBody>
          <a:bodyPr>
            <a:noAutofit/>
          </a:bodyPr>
          <a:lstStyle/>
          <a:p>
            <a:pPr algn="just"/>
            <a:r>
              <a:rPr lang="es-CR" sz="3400" dirty="0"/>
              <a:t>Constrúyase un diagrama E-R para una </a:t>
            </a:r>
            <a:r>
              <a:rPr lang="es-CR" sz="3400" dirty="0">
                <a:solidFill>
                  <a:srgbClr val="FF0000"/>
                </a:solidFill>
              </a:rPr>
              <a:t>compañía de</a:t>
            </a:r>
            <a:br>
              <a:rPr lang="es-CR" sz="3400" dirty="0">
                <a:solidFill>
                  <a:srgbClr val="FF0000"/>
                </a:solidFill>
              </a:rPr>
            </a:br>
            <a:r>
              <a:rPr lang="es-CR" sz="3400" dirty="0">
                <a:solidFill>
                  <a:srgbClr val="FF0000"/>
                </a:solidFill>
              </a:rPr>
              <a:t>seguros</a:t>
            </a:r>
            <a:r>
              <a:rPr lang="es-CR" sz="3400" dirty="0"/>
              <a:t> de </a:t>
            </a:r>
            <a:r>
              <a:rPr lang="es-CR" sz="3400" dirty="0">
                <a:solidFill>
                  <a:srgbClr val="FF0000"/>
                </a:solidFill>
              </a:rPr>
              <a:t>coches</a:t>
            </a:r>
            <a:r>
              <a:rPr lang="es-CR" sz="3400" dirty="0"/>
              <a:t> cuyos </a:t>
            </a:r>
            <a:r>
              <a:rPr lang="es-CR" sz="3400" dirty="0">
                <a:solidFill>
                  <a:srgbClr val="FF0000"/>
                </a:solidFill>
              </a:rPr>
              <a:t>clientes</a:t>
            </a:r>
            <a:r>
              <a:rPr lang="es-CR" sz="3400" dirty="0"/>
              <a:t> poseen uno o más</a:t>
            </a:r>
            <a:br>
              <a:rPr lang="es-CR" sz="3400" dirty="0"/>
            </a:br>
            <a:r>
              <a:rPr lang="es-CR" sz="3400" dirty="0"/>
              <a:t>coches. Cada coche tiene asociado un número de cero a</a:t>
            </a:r>
            <a:br>
              <a:rPr lang="es-CR" sz="3400" dirty="0"/>
            </a:br>
            <a:r>
              <a:rPr lang="es-CR" sz="3400" dirty="0"/>
              <a:t>cualquier valor que almacena el número de </a:t>
            </a:r>
            <a:r>
              <a:rPr lang="es-CR" sz="3400" dirty="0">
                <a:solidFill>
                  <a:srgbClr val="FF0000"/>
                </a:solidFill>
              </a:rPr>
              <a:t>accidentes</a:t>
            </a:r>
          </a:p>
        </p:txBody>
      </p:sp>
    </p:spTree>
    <p:extLst>
      <p:ext uri="{BB962C8B-B14F-4D97-AF65-F5344CB8AC3E}">
        <p14:creationId xmlns:p14="http://schemas.microsoft.com/office/powerpoint/2010/main" val="3096162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378372" y="528145"/>
            <a:ext cx="2081048" cy="10562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Compañía</a:t>
            </a:r>
          </a:p>
        </p:txBody>
      </p:sp>
      <p:sp>
        <p:nvSpPr>
          <p:cNvPr id="5" name="Rombo 4"/>
          <p:cNvSpPr/>
          <p:nvPr/>
        </p:nvSpPr>
        <p:spPr>
          <a:xfrm>
            <a:off x="725213" y="2154620"/>
            <a:ext cx="1387366" cy="1860331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Asegura</a:t>
            </a:r>
          </a:p>
        </p:txBody>
      </p:sp>
      <p:sp>
        <p:nvSpPr>
          <p:cNvPr id="6" name="Rectángulo 5"/>
          <p:cNvSpPr/>
          <p:nvPr/>
        </p:nvSpPr>
        <p:spPr>
          <a:xfrm>
            <a:off x="378372" y="4501054"/>
            <a:ext cx="2081048" cy="10562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Coches</a:t>
            </a:r>
          </a:p>
        </p:txBody>
      </p:sp>
      <p:sp>
        <p:nvSpPr>
          <p:cNvPr id="7" name="Rectángulo 6"/>
          <p:cNvSpPr/>
          <p:nvPr/>
        </p:nvSpPr>
        <p:spPr>
          <a:xfrm>
            <a:off x="4422228" y="2540874"/>
            <a:ext cx="2081048" cy="10562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Clientes</a:t>
            </a:r>
          </a:p>
        </p:txBody>
      </p:sp>
      <p:sp>
        <p:nvSpPr>
          <p:cNvPr id="8" name="Rectángulo 7"/>
          <p:cNvSpPr/>
          <p:nvPr/>
        </p:nvSpPr>
        <p:spPr>
          <a:xfrm>
            <a:off x="6779172" y="4527329"/>
            <a:ext cx="2081048" cy="105629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Accidentes</a:t>
            </a:r>
          </a:p>
        </p:txBody>
      </p:sp>
      <p:sp>
        <p:nvSpPr>
          <p:cNvPr id="9" name="Rombo 8"/>
          <p:cNvSpPr/>
          <p:nvPr/>
        </p:nvSpPr>
        <p:spPr>
          <a:xfrm>
            <a:off x="2554014" y="2138854"/>
            <a:ext cx="1387366" cy="1860331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Tiene</a:t>
            </a:r>
          </a:p>
        </p:txBody>
      </p:sp>
      <p:sp>
        <p:nvSpPr>
          <p:cNvPr id="10" name="Rombo 9"/>
          <p:cNvSpPr/>
          <p:nvPr/>
        </p:nvSpPr>
        <p:spPr>
          <a:xfrm>
            <a:off x="4240923" y="4125309"/>
            <a:ext cx="1387366" cy="1860331"/>
          </a:xfrm>
          <a:prstGeom prst="diamond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tienen</a:t>
            </a:r>
          </a:p>
        </p:txBody>
      </p:sp>
      <p:cxnSp>
        <p:nvCxnSpPr>
          <p:cNvPr id="12" name="Conector recto de flecha 11"/>
          <p:cNvCxnSpPr>
            <a:stCxn id="5" idx="0"/>
            <a:endCxn id="4" idx="2"/>
          </p:cNvCxnSpPr>
          <p:nvPr/>
        </p:nvCxnSpPr>
        <p:spPr>
          <a:xfrm flipV="1">
            <a:off x="1418896" y="1584435"/>
            <a:ext cx="0" cy="570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>
            <a:stCxn id="5" idx="2"/>
            <a:endCxn id="6" idx="0"/>
          </p:cNvCxnSpPr>
          <p:nvPr/>
        </p:nvCxnSpPr>
        <p:spPr>
          <a:xfrm>
            <a:off x="1418896" y="4014951"/>
            <a:ext cx="0" cy="4861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/>
          <p:cNvCxnSpPr>
            <a:stCxn id="9" idx="3"/>
          </p:cNvCxnSpPr>
          <p:nvPr/>
        </p:nvCxnSpPr>
        <p:spPr>
          <a:xfrm flipV="1">
            <a:off x="3941380" y="3069019"/>
            <a:ext cx="5202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/>
          <p:cNvCxnSpPr>
            <a:stCxn id="9" idx="1"/>
          </p:cNvCxnSpPr>
          <p:nvPr/>
        </p:nvCxnSpPr>
        <p:spPr>
          <a:xfrm flipH="1">
            <a:off x="2459420" y="3069020"/>
            <a:ext cx="94594" cy="14320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/>
          <p:cNvCxnSpPr>
            <a:stCxn id="10" idx="3"/>
          </p:cNvCxnSpPr>
          <p:nvPr/>
        </p:nvCxnSpPr>
        <p:spPr>
          <a:xfrm flipV="1">
            <a:off x="5628289" y="5055474"/>
            <a:ext cx="1150883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/>
          <p:cNvCxnSpPr>
            <a:stCxn id="10" idx="1"/>
            <a:endCxn id="6" idx="3"/>
          </p:cNvCxnSpPr>
          <p:nvPr/>
        </p:nvCxnSpPr>
        <p:spPr>
          <a:xfrm flipH="1" flipV="1">
            <a:off x="2459420" y="5029199"/>
            <a:ext cx="1781503" cy="26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/>
          <p:cNvSpPr txBox="1"/>
          <p:nvPr/>
        </p:nvSpPr>
        <p:spPr>
          <a:xfrm>
            <a:off x="6424446" y="502919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/>
              <a:t>n</a:t>
            </a:r>
            <a:endParaRPr lang="es-CR"/>
          </a:p>
        </p:txBody>
      </p:sp>
      <p:sp>
        <p:nvSpPr>
          <p:cNvPr id="27" name="CuadroTexto 26"/>
          <p:cNvSpPr txBox="1"/>
          <p:nvPr/>
        </p:nvSpPr>
        <p:spPr>
          <a:xfrm>
            <a:off x="2414747" y="505547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dirty="0"/>
              <a:t>0</a:t>
            </a:r>
          </a:p>
        </p:txBody>
      </p:sp>
      <p:sp>
        <p:nvSpPr>
          <p:cNvPr id="28" name="CuadroTexto 27"/>
          <p:cNvSpPr txBox="1"/>
          <p:nvPr/>
        </p:nvSpPr>
        <p:spPr>
          <a:xfrm>
            <a:off x="2446272" y="409377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/>
              <a:t>n</a:t>
            </a:r>
            <a:endParaRPr lang="es-CR"/>
          </a:p>
        </p:txBody>
      </p:sp>
      <p:sp>
        <p:nvSpPr>
          <p:cNvPr id="29" name="CuadroTexto 28"/>
          <p:cNvSpPr txBox="1"/>
          <p:nvPr/>
        </p:nvSpPr>
        <p:spPr>
          <a:xfrm>
            <a:off x="1563397" y="412530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/>
              <a:t>n</a:t>
            </a:r>
            <a:endParaRPr lang="es-CR"/>
          </a:p>
        </p:txBody>
      </p:sp>
      <p:sp>
        <p:nvSpPr>
          <p:cNvPr id="30" name="CuadroTexto 29"/>
          <p:cNvSpPr txBox="1"/>
          <p:nvPr/>
        </p:nvSpPr>
        <p:spPr>
          <a:xfrm>
            <a:off x="1526610" y="175521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dirty="0"/>
              <a:t>1</a:t>
            </a:r>
          </a:p>
        </p:txBody>
      </p:sp>
      <p:sp>
        <p:nvSpPr>
          <p:cNvPr id="31" name="CuadroTexto 30"/>
          <p:cNvSpPr txBox="1"/>
          <p:nvPr/>
        </p:nvSpPr>
        <p:spPr>
          <a:xfrm>
            <a:off x="4028557" y="262028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dirty="0"/>
              <a:t>1</a:t>
            </a:r>
          </a:p>
        </p:txBody>
      </p:sp>
      <p:sp>
        <p:nvSpPr>
          <p:cNvPr id="32" name="Elipse 31"/>
          <p:cNvSpPr/>
          <p:nvPr/>
        </p:nvSpPr>
        <p:spPr>
          <a:xfrm>
            <a:off x="6730940" y="3597164"/>
            <a:ext cx="1321681" cy="77251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Fecha</a:t>
            </a:r>
          </a:p>
        </p:txBody>
      </p:sp>
      <p:sp>
        <p:nvSpPr>
          <p:cNvPr id="33" name="Elipse 32"/>
          <p:cNvSpPr/>
          <p:nvPr/>
        </p:nvSpPr>
        <p:spPr>
          <a:xfrm>
            <a:off x="8199379" y="3491479"/>
            <a:ext cx="1321681" cy="77251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err="1"/>
              <a:t>Direccion</a:t>
            </a:r>
            <a:r>
              <a:rPr lang="es-CR" dirty="0"/>
              <a:t> Exacta</a:t>
            </a:r>
          </a:p>
        </p:txBody>
      </p:sp>
      <p:sp>
        <p:nvSpPr>
          <p:cNvPr id="34" name="Elipse 33"/>
          <p:cNvSpPr/>
          <p:nvPr/>
        </p:nvSpPr>
        <p:spPr>
          <a:xfrm>
            <a:off x="3809060" y="1589682"/>
            <a:ext cx="1321681" cy="77251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u="sng" dirty="0"/>
              <a:t>ID</a:t>
            </a:r>
          </a:p>
        </p:txBody>
      </p:sp>
      <p:sp>
        <p:nvSpPr>
          <p:cNvPr id="35" name="Elipse 34"/>
          <p:cNvSpPr/>
          <p:nvPr/>
        </p:nvSpPr>
        <p:spPr>
          <a:xfrm>
            <a:off x="5427658" y="1600192"/>
            <a:ext cx="1321681" cy="77251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Nombre </a:t>
            </a:r>
            <a:r>
              <a:rPr lang="es-CR" dirty="0" err="1"/>
              <a:t>Complet</a:t>
            </a:r>
            <a:endParaRPr lang="es-CR" dirty="0"/>
          </a:p>
        </p:txBody>
      </p:sp>
      <p:sp>
        <p:nvSpPr>
          <p:cNvPr id="36" name="Elipse 35"/>
          <p:cNvSpPr/>
          <p:nvPr/>
        </p:nvSpPr>
        <p:spPr>
          <a:xfrm>
            <a:off x="64372" y="5985640"/>
            <a:ext cx="1321681" cy="77251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u="sng" dirty="0"/>
              <a:t>Placa</a:t>
            </a:r>
          </a:p>
        </p:txBody>
      </p:sp>
      <p:sp>
        <p:nvSpPr>
          <p:cNvPr id="37" name="Elipse 36"/>
          <p:cNvSpPr/>
          <p:nvPr/>
        </p:nvSpPr>
        <p:spPr>
          <a:xfrm>
            <a:off x="1716644" y="6037032"/>
            <a:ext cx="1321681" cy="77251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Modelo</a:t>
            </a:r>
          </a:p>
        </p:txBody>
      </p:sp>
      <p:sp>
        <p:nvSpPr>
          <p:cNvPr id="38" name="Elipse 37"/>
          <p:cNvSpPr/>
          <p:nvPr/>
        </p:nvSpPr>
        <p:spPr>
          <a:xfrm>
            <a:off x="3178901" y="5985639"/>
            <a:ext cx="1321681" cy="77251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Marca</a:t>
            </a:r>
          </a:p>
        </p:txBody>
      </p:sp>
      <p:sp>
        <p:nvSpPr>
          <p:cNvPr id="39" name="Elipse 38"/>
          <p:cNvSpPr/>
          <p:nvPr/>
        </p:nvSpPr>
        <p:spPr>
          <a:xfrm>
            <a:off x="4641158" y="6030306"/>
            <a:ext cx="1321681" cy="77251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Tracción</a:t>
            </a:r>
          </a:p>
        </p:txBody>
      </p:sp>
      <p:sp>
        <p:nvSpPr>
          <p:cNvPr id="40" name="Elipse 39"/>
          <p:cNvSpPr/>
          <p:nvPr/>
        </p:nvSpPr>
        <p:spPr>
          <a:xfrm>
            <a:off x="6203730" y="6037032"/>
            <a:ext cx="1321681" cy="77251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CC</a:t>
            </a:r>
          </a:p>
        </p:txBody>
      </p:sp>
      <p:sp>
        <p:nvSpPr>
          <p:cNvPr id="41" name="Elipse 40"/>
          <p:cNvSpPr/>
          <p:nvPr/>
        </p:nvSpPr>
        <p:spPr>
          <a:xfrm>
            <a:off x="2369138" y="70925"/>
            <a:ext cx="1321681" cy="77251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u="sng" dirty="0"/>
              <a:t>ID</a:t>
            </a:r>
          </a:p>
        </p:txBody>
      </p:sp>
      <p:sp>
        <p:nvSpPr>
          <p:cNvPr id="42" name="Elipse 41"/>
          <p:cNvSpPr/>
          <p:nvPr/>
        </p:nvSpPr>
        <p:spPr>
          <a:xfrm>
            <a:off x="3987736" y="81435"/>
            <a:ext cx="1321681" cy="77251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Nombre</a:t>
            </a:r>
          </a:p>
        </p:txBody>
      </p:sp>
    </p:spTree>
    <p:extLst>
      <p:ext uri="{BB962C8B-B14F-4D97-AF65-F5344CB8AC3E}">
        <p14:creationId xmlns:p14="http://schemas.microsoft.com/office/powerpoint/2010/main" val="4110583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796485"/>
              </p:ext>
            </p:extLst>
          </p:nvPr>
        </p:nvGraphicFramePr>
        <p:xfrm>
          <a:off x="250497" y="493112"/>
          <a:ext cx="3407104" cy="7366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703552">
                  <a:extLst>
                    <a:ext uri="{9D8B030D-6E8A-4147-A177-3AD203B41FA5}">
                      <a16:colId xmlns:a16="http://schemas.microsoft.com/office/drawing/2014/main" val="1116024299"/>
                    </a:ext>
                  </a:extLst>
                </a:gridCol>
                <a:gridCol w="1703552">
                  <a:extLst>
                    <a:ext uri="{9D8B030D-6E8A-4147-A177-3AD203B41FA5}">
                      <a16:colId xmlns:a16="http://schemas.microsoft.com/office/drawing/2014/main" val="3304833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R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Nombre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374791"/>
                  </a:ext>
                </a:extLst>
              </a:tr>
              <a:tr h="296860"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235642"/>
                  </a:ext>
                </a:extLst>
              </a:tr>
            </a:tbl>
          </a:graphicData>
        </a:graphic>
      </p:graphicFrame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899388"/>
              </p:ext>
            </p:extLst>
          </p:nvPr>
        </p:nvGraphicFramePr>
        <p:xfrm>
          <a:off x="250497" y="4731130"/>
          <a:ext cx="4389822" cy="7366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94911">
                  <a:extLst>
                    <a:ext uri="{9D8B030D-6E8A-4147-A177-3AD203B41FA5}">
                      <a16:colId xmlns:a16="http://schemas.microsoft.com/office/drawing/2014/main" val="1116024299"/>
                    </a:ext>
                  </a:extLst>
                </a:gridCol>
                <a:gridCol w="2194911">
                  <a:extLst>
                    <a:ext uri="{9D8B030D-6E8A-4147-A177-3AD203B41FA5}">
                      <a16:colId xmlns:a16="http://schemas.microsoft.com/office/drawing/2014/main" val="3304833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R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 err="1"/>
                        <a:t>NombreCompleto</a:t>
                      </a:r>
                      <a:endParaRPr lang="es-C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374791"/>
                  </a:ext>
                </a:extLst>
              </a:tr>
              <a:tr h="296860"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235642"/>
                  </a:ext>
                </a:extLst>
              </a:tr>
            </a:tbl>
          </a:graphicData>
        </a:graphic>
      </p:graphicFrame>
      <p:graphicFrame>
        <p:nvGraphicFramePr>
          <p:cNvPr id="7" name="Tab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000089"/>
              </p:ext>
            </p:extLst>
          </p:nvPr>
        </p:nvGraphicFramePr>
        <p:xfrm>
          <a:off x="3909850" y="1377499"/>
          <a:ext cx="7851228" cy="10109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08538">
                  <a:extLst>
                    <a:ext uri="{9D8B030D-6E8A-4147-A177-3AD203B41FA5}">
                      <a16:colId xmlns:a16="http://schemas.microsoft.com/office/drawing/2014/main" val="2200643362"/>
                    </a:ext>
                  </a:extLst>
                </a:gridCol>
                <a:gridCol w="1308538">
                  <a:extLst>
                    <a:ext uri="{9D8B030D-6E8A-4147-A177-3AD203B41FA5}">
                      <a16:colId xmlns:a16="http://schemas.microsoft.com/office/drawing/2014/main" val="913372098"/>
                    </a:ext>
                  </a:extLst>
                </a:gridCol>
                <a:gridCol w="1308538">
                  <a:extLst>
                    <a:ext uri="{9D8B030D-6E8A-4147-A177-3AD203B41FA5}">
                      <a16:colId xmlns:a16="http://schemas.microsoft.com/office/drawing/2014/main" val="3474209352"/>
                    </a:ext>
                  </a:extLst>
                </a:gridCol>
                <a:gridCol w="1308538">
                  <a:extLst>
                    <a:ext uri="{9D8B030D-6E8A-4147-A177-3AD203B41FA5}">
                      <a16:colId xmlns:a16="http://schemas.microsoft.com/office/drawing/2014/main" val="2522419211"/>
                    </a:ext>
                  </a:extLst>
                </a:gridCol>
                <a:gridCol w="1308538">
                  <a:extLst>
                    <a:ext uri="{9D8B030D-6E8A-4147-A177-3AD203B41FA5}">
                      <a16:colId xmlns:a16="http://schemas.microsoft.com/office/drawing/2014/main" val="1701430612"/>
                    </a:ext>
                  </a:extLst>
                </a:gridCol>
                <a:gridCol w="1308538">
                  <a:extLst>
                    <a:ext uri="{9D8B030D-6E8A-4147-A177-3AD203B41FA5}">
                      <a16:colId xmlns:a16="http://schemas.microsoft.com/office/drawing/2014/main" val="342544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R" dirty="0"/>
                        <a:t>Placa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Modelo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Marca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Cilindraje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 err="1"/>
                        <a:t>CantiPasajeros</a:t>
                      </a:r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742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315326"/>
                  </a:ext>
                </a:extLst>
              </a:tr>
            </a:tbl>
          </a:graphicData>
        </a:graphic>
      </p:graphicFrame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931163"/>
              </p:ext>
            </p:extLst>
          </p:nvPr>
        </p:nvGraphicFramePr>
        <p:xfrm>
          <a:off x="4824250" y="4854903"/>
          <a:ext cx="5691355" cy="7366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422839">
                  <a:extLst>
                    <a:ext uri="{9D8B030D-6E8A-4147-A177-3AD203B41FA5}">
                      <a16:colId xmlns:a16="http://schemas.microsoft.com/office/drawing/2014/main" val="1116024299"/>
                    </a:ext>
                  </a:extLst>
                </a:gridCol>
                <a:gridCol w="1422839">
                  <a:extLst>
                    <a:ext uri="{9D8B030D-6E8A-4147-A177-3AD203B41FA5}">
                      <a16:colId xmlns:a16="http://schemas.microsoft.com/office/drawing/2014/main" val="3991517067"/>
                    </a:ext>
                  </a:extLst>
                </a:gridCol>
                <a:gridCol w="2845677">
                  <a:extLst>
                    <a:ext uri="{9D8B030D-6E8A-4147-A177-3AD203B41FA5}">
                      <a16:colId xmlns:a16="http://schemas.microsoft.com/office/drawing/2014/main" val="3304833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R" dirty="0"/>
                        <a:t>Placa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R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 err="1"/>
                        <a:t>DireccionExacta</a:t>
                      </a:r>
                      <a:endParaRPr lang="es-C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374791"/>
                  </a:ext>
                </a:extLst>
              </a:tr>
              <a:tr h="296860"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235642"/>
                  </a:ext>
                </a:extLst>
              </a:tr>
            </a:tbl>
          </a:graphicData>
        </a:graphic>
      </p:graphicFrame>
      <p:graphicFrame>
        <p:nvGraphicFramePr>
          <p:cNvPr id="9" name="Tab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774906"/>
              </p:ext>
            </p:extLst>
          </p:nvPr>
        </p:nvGraphicFramePr>
        <p:xfrm>
          <a:off x="250497" y="2455718"/>
          <a:ext cx="3407104" cy="73660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703552">
                  <a:extLst>
                    <a:ext uri="{9D8B030D-6E8A-4147-A177-3AD203B41FA5}">
                      <a16:colId xmlns:a16="http://schemas.microsoft.com/office/drawing/2014/main" val="1116024299"/>
                    </a:ext>
                  </a:extLst>
                </a:gridCol>
                <a:gridCol w="1703552">
                  <a:extLst>
                    <a:ext uri="{9D8B030D-6E8A-4147-A177-3AD203B41FA5}">
                      <a16:colId xmlns:a16="http://schemas.microsoft.com/office/drawing/2014/main" val="3304833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R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Placa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374791"/>
                  </a:ext>
                </a:extLst>
              </a:tr>
              <a:tr h="296860">
                <a:tc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235642"/>
                  </a:ext>
                </a:extLst>
              </a:tr>
            </a:tbl>
          </a:graphicData>
        </a:graphic>
      </p:graphicFrame>
      <p:graphicFrame>
        <p:nvGraphicFramePr>
          <p:cNvPr id="10" name="Tab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288666"/>
              </p:ext>
            </p:extLst>
          </p:nvPr>
        </p:nvGraphicFramePr>
        <p:xfrm>
          <a:off x="5384801" y="3294629"/>
          <a:ext cx="3407104" cy="73660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703552">
                  <a:extLst>
                    <a:ext uri="{9D8B030D-6E8A-4147-A177-3AD203B41FA5}">
                      <a16:colId xmlns:a16="http://schemas.microsoft.com/office/drawing/2014/main" val="1116024299"/>
                    </a:ext>
                  </a:extLst>
                </a:gridCol>
                <a:gridCol w="1703552">
                  <a:extLst>
                    <a:ext uri="{9D8B030D-6E8A-4147-A177-3AD203B41FA5}">
                      <a16:colId xmlns:a16="http://schemas.microsoft.com/office/drawing/2014/main" val="3304833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R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Placa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374791"/>
                  </a:ext>
                </a:extLst>
              </a:tr>
              <a:tr h="296860"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235642"/>
                  </a:ext>
                </a:extLst>
              </a:tr>
            </a:tbl>
          </a:graphicData>
        </a:graphic>
      </p:graphicFrame>
      <p:sp>
        <p:nvSpPr>
          <p:cNvPr id="11" name="CuadroTexto 10"/>
          <p:cNvSpPr txBox="1"/>
          <p:nvPr/>
        </p:nvSpPr>
        <p:spPr>
          <a:xfrm>
            <a:off x="5644055" y="2979683"/>
            <a:ext cx="2790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dirty="0"/>
              <a:t>Relación – Clientes - Coches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404648" y="2103461"/>
            <a:ext cx="2993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dirty="0"/>
              <a:t>Relación – </a:t>
            </a:r>
            <a:r>
              <a:rPr lang="es-CR" dirty="0" err="1"/>
              <a:t>Compañia</a:t>
            </a:r>
            <a:r>
              <a:rPr lang="es-CR" dirty="0"/>
              <a:t> - Coches</a:t>
            </a:r>
          </a:p>
        </p:txBody>
      </p:sp>
      <p:sp>
        <p:nvSpPr>
          <p:cNvPr id="13" name="CuadroTexto 12"/>
          <p:cNvSpPr txBox="1"/>
          <p:nvPr/>
        </p:nvSpPr>
        <p:spPr>
          <a:xfrm>
            <a:off x="5796455" y="4361798"/>
            <a:ext cx="1202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dirty="0"/>
              <a:t>Accidentes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872354" y="4230424"/>
            <a:ext cx="928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dirty="0" err="1"/>
              <a:t>Cilentes</a:t>
            </a:r>
            <a:endParaRPr lang="es-CR" dirty="0"/>
          </a:p>
        </p:txBody>
      </p:sp>
      <p:sp>
        <p:nvSpPr>
          <p:cNvPr id="15" name="CuadroTexto 14"/>
          <p:cNvSpPr txBox="1"/>
          <p:nvPr/>
        </p:nvSpPr>
        <p:spPr>
          <a:xfrm>
            <a:off x="872354" y="138313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dirty="0" err="1"/>
              <a:t>Compañia</a:t>
            </a:r>
            <a:endParaRPr lang="es-CR" dirty="0"/>
          </a:p>
        </p:txBody>
      </p:sp>
      <p:sp>
        <p:nvSpPr>
          <p:cNvPr id="16" name="CuadroTexto 15"/>
          <p:cNvSpPr txBox="1"/>
          <p:nvPr/>
        </p:nvSpPr>
        <p:spPr>
          <a:xfrm>
            <a:off x="5948855" y="966976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dirty="0"/>
              <a:t>Coches</a:t>
            </a:r>
          </a:p>
        </p:txBody>
      </p:sp>
    </p:spTree>
    <p:extLst>
      <p:ext uri="{BB962C8B-B14F-4D97-AF65-F5344CB8AC3E}">
        <p14:creationId xmlns:p14="http://schemas.microsoft.com/office/powerpoint/2010/main" val="26800776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64</Words>
  <Application>Microsoft Office PowerPoint</Application>
  <PresentationFormat>Panorámica</PresentationFormat>
  <Paragraphs>47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Constrúyase un diagrama E-R para una compañía de seguros de coches cuyos clientes poseen uno o más coches. Cada coche tiene asociado un número de cero a cualquier valor que almacena el número de accidentes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Constrúyase un diagrama E-R para una compañía de seguros de coches cuyos clientes poseen uno o más coches. Cada coche tiene asociado un número de cero a cualquier valor que almacena el número de accidentes</dc:title>
  <dc:creator>Hairol</dc:creator>
  <cp:lastModifiedBy>Hairol</cp:lastModifiedBy>
  <cp:revision>9</cp:revision>
  <dcterms:created xsi:type="dcterms:W3CDTF">2016-02-17T21:28:58Z</dcterms:created>
  <dcterms:modified xsi:type="dcterms:W3CDTF">2016-02-17T21:56:48Z</dcterms:modified>
</cp:coreProperties>
</file>