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4630400" cy="8229600"/>
  <p:notesSz cx="8229600" cy="14630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486099616" y="0"/>
      </p:cViewPr>
      <p:guideLst>
        <p:guide pos="4608"/>
        <p:guide pos="2592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680480" name="Google Shape;3;n"/>
          <p:cNvSpPr/>
          <p:nvPr>
            <p:ph type="sldImg" idx="2"/>
          </p:nvPr>
        </p:nvSpPr>
        <p:spPr bwMode="auto">
          <a:xfrm>
            <a:off x="1371850" y="1097275"/>
            <a:ext cx="5486650" cy="54864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434512" name="Google Shape;4;n"/>
          <p:cNvSpPr txBox="1"/>
          <p:nvPr>
            <p:ph type="body" idx="1"/>
          </p:nvPr>
        </p:nvSpPr>
        <p:spPr bwMode="auto">
          <a:xfrm>
            <a:off x="822950" y="6949425"/>
            <a:ext cx="6583674" cy="6583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988573" name="Google Shape;137;p1:notes"/>
          <p:cNvSpPr/>
          <p:nvPr>
            <p:ph type="sldImg" idx="2"/>
          </p:nvPr>
        </p:nvSpPr>
        <p:spPr bwMode="auto">
          <a:xfrm>
            <a:off x="-1166813" y="0"/>
            <a:ext cx="5334000" cy="30003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4247946" name="Google Shape;138;p1:notes"/>
          <p:cNvSpPr txBox="1"/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5560141" name="Google Shape;139;p1:notes"/>
          <p:cNvSpPr txBox="1"/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578183" name="Google Shape;151;p2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8403700" name="Google Shape;152;p2:notes"/>
          <p:cNvSpPr txBox="1"/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4547854" name="Google Shape;153;p2:notes"/>
          <p:cNvSpPr txBox="1"/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743176" name="Google Shape;159;p3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0573694" name="Google Shape;160;p3:notes"/>
          <p:cNvSpPr txBox="1"/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2168121" name="Google Shape;161;p3:notes"/>
          <p:cNvSpPr txBox="1"/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99022" name="Google Shape;175;p4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2634612" name="Google Shape;176;p4:notes"/>
          <p:cNvSpPr txBox="1"/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7719833" name="Google Shape;177;p4:notes"/>
          <p:cNvSpPr txBox="1"/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16097" name="Google Shape;175;p4:notes"/>
          <p:cNvSpPr/>
          <p:nvPr>
            <p:ph type="sldImg" idx="2"/>
          </p:nvPr>
        </p:nvSpPr>
        <p:spPr bwMode="auto">
          <a:xfrm>
            <a:off x="0" y="0"/>
            <a:ext cx="2999999" cy="29999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9238193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8742178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F324EF63-63F5-6298-BE68-A358C470552A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026652" name="Google Shape;175;p4:notes"/>
          <p:cNvSpPr/>
          <p:nvPr>
            <p:ph type="sldImg" idx="2"/>
          </p:nvPr>
        </p:nvSpPr>
        <p:spPr bwMode="auto">
          <a:xfrm>
            <a:off x="0" y="0"/>
            <a:ext cx="2999999" cy="29999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0217123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1199144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0CC53555-6FA0-138B-DD61-A2542F049E6F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83534" name="Google Shape;175;p4:notes"/>
          <p:cNvSpPr/>
          <p:nvPr>
            <p:ph type="sldImg" idx="2"/>
          </p:nvPr>
        </p:nvSpPr>
        <p:spPr bwMode="auto">
          <a:xfrm>
            <a:off x="0" y="0"/>
            <a:ext cx="2999999" cy="29999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2299065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3373753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8BDC715E-8A55-B31A-56F6-B06634E18CB1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797536" name="Google Shape;175;p4:notes"/>
          <p:cNvSpPr/>
          <p:nvPr>
            <p:ph type="sldImg" idx="2"/>
          </p:nvPr>
        </p:nvSpPr>
        <p:spPr bwMode="auto">
          <a:xfrm>
            <a:off x="0" y="0"/>
            <a:ext cx="2999999" cy="29999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5602304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3471316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A692473B-CA1B-88D1-1F4D-84DEF1F42AF6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448879" name="Google Shape;175;p4:notes"/>
          <p:cNvSpPr/>
          <p:nvPr>
            <p:ph type="sldImg" idx="2"/>
          </p:nvPr>
        </p:nvSpPr>
        <p:spPr bwMode="auto">
          <a:xfrm>
            <a:off x="0" y="0"/>
            <a:ext cx="2999999" cy="29999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4197826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8836657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C3B07212-02CC-28CA-698B-C4BE6B85DF9B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714342" name="Google Shape;175;p4:notes"/>
          <p:cNvSpPr/>
          <p:nvPr>
            <p:ph type="sldImg" idx="2"/>
          </p:nvPr>
        </p:nvSpPr>
        <p:spPr bwMode="auto">
          <a:xfrm>
            <a:off x="0" y="0"/>
            <a:ext cx="2999999" cy="29999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5239108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3334830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3EDB90E5-F462-12CB-235E-41A6DBC862EE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28345" name="Google Shape;175;p4:notes"/>
          <p:cNvSpPr/>
          <p:nvPr>
            <p:ph type="sldImg" idx="2"/>
          </p:nvPr>
        </p:nvSpPr>
        <p:spPr bwMode="auto">
          <a:xfrm>
            <a:off x="0" y="0"/>
            <a:ext cx="2999999" cy="29999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531338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1454433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DA7C8F71-5DF5-FDCA-71A8-27F183C8E996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39264" name="Google Shape;175;p4:notes"/>
          <p:cNvSpPr/>
          <p:nvPr>
            <p:ph type="sldImg" idx="2"/>
          </p:nvPr>
        </p:nvSpPr>
        <p:spPr bwMode="auto">
          <a:xfrm>
            <a:off x="0" y="0"/>
            <a:ext cx="2999999" cy="29999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3801537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1381390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D31A2B9E-AE41-0AE4-6446-AAC60A1CB1D5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98228" name="Google Shape;175;p4:notes"/>
          <p:cNvSpPr/>
          <p:nvPr>
            <p:ph type="sldImg" idx="2"/>
          </p:nvPr>
        </p:nvSpPr>
        <p:spPr bwMode="auto">
          <a:xfrm>
            <a:off x="0" y="0"/>
            <a:ext cx="2999999" cy="29999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3085589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0296211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60339131-B3B1-32A2-EE1F-89A8F23C8969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29827" name="Google Shape;175;p4:notes"/>
          <p:cNvSpPr/>
          <p:nvPr>
            <p:ph type="sldImg" idx="2"/>
          </p:nvPr>
        </p:nvSpPr>
        <p:spPr bwMode="auto">
          <a:xfrm>
            <a:off x="0" y="0"/>
            <a:ext cx="2999999" cy="29999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915341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2997371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A8C29E03-3A7C-1BBF-FE49-D7FF8B8ED0D6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450500" name="Google Shape;175;p4:notes"/>
          <p:cNvSpPr/>
          <p:nvPr>
            <p:ph type="sldImg" idx="2"/>
          </p:nvPr>
        </p:nvSpPr>
        <p:spPr bwMode="auto">
          <a:xfrm>
            <a:off x="0" y="0"/>
            <a:ext cx="2999999" cy="29999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1161520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1400578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5EE18808-6EF7-04C1-F8CC-E9723115B491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071751" name="Google Shape;175;p4:notes"/>
          <p:cNvSpPr/>
          <p:nvPr>
            <p:ph type="sldImg" idx="2"/>
          </p:nvPr>
        </p:nvSpPr>
        <p:spPr bwMode="auto">
          <a:xfrm>
            <a:off x="0" y="0"/>
            <a:ext cx="2999998" cy="29999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9261743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8183400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01677F7D-2092-53AF-E41E-C43A03C772A0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250573" name="Google Shape;175;p4:notes"/>
          <p:cNvSpPr/>
          <p:nvPr>
            <p:ph type="sldImg" idx="2"/>
          </p:nvPr>
        </p:nvSpPr>
        <p:spPr bwMode="auto">
          <a:xfrm>
            <a:off x="0" y="0"/>
            <a:ext cx="2999998" cy="29999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1510649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151664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2EB4E124-6FFB-B5B4-1D8B-6887911FC1A3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43503" name="Google Shape;175;p4:notes"/>
          <p:cNvSpPr/>
          <p:nvPr>
            <p:ph type="sldImg" idx="2"/>
          </p:nvPr>
        </p:nvSpPr>
        <p:spPr bwMode="auto">
          <a:xfrm>
            <a:off x="0" y="0"/>
            <a:ext cx="2999998" cy="29999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9185750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9001376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89CA27A9-7737-8905-7405-FA22F7A170F3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35165" name="Google Shape;175;p4:notes"/>
          <p:cNvSpPr/>
          <p:nvPr>
            <p:ph type="sldImg" idx="2"/>
          </p:nvPr>
        </p:nvSpPr>
        <p:spPr bwMode="auto">
          <a:xfrm>
            <a:off x="0" y="0"/>
            <a:ext cx="2999998" cy="29999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2395697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3110463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7341AE63-1483-C336-0AA2-42F150ED4D83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180677" name="Google Shape;175;p4:notes"/>
          <p:cNvSpPr/>
          <p:nvPr>
            <p:ph type="sldImg" idx="2"/>
          </p:nvPr>
        </p:nvSpPr>
        <p:spPr bwMode="auto">
          <a:xfrm>
            <a:off x="0" y="0"/>
            <a:ext cx="2999998" cy="29999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5911238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6034555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86D9ED4A-7041-2DF5-C177-E43528C22930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295988" name="Google Shape;723;p34:notes"/>
          <p:cNvSpPr/>
          <p:nvPr>
            <p:ph type="sldImg" idx="2"/>
          </p:nvPr>
        </p:nvSpPr>
        <p:spPr bwMode="auto">
          <a:xfrm>
            <a:off x="-1166813" y="0"/>
            <a:ext cx="5334000" cy="30003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5572067" name="Google Shape;724;p34:notes"/>
          <p:cNvSpPr txBox="1"/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2603904" name="Google Shape;725;p34:notes"/>
          <p:cNvSpPr txBox="1"/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52711" name="Google Shape;175;p4:notes"/>
          <p:cNvSpPr/>
          <p:nvPr>
            <p:ph type="sldImg" idx="2"/>
          </p:nvPr>
        </p:nvSpPr>
        <p:spPr bwMode="auto">
          <a:xfrm>
            <a:off x="0" y="0"/>
            <a:ext cx="2999998" cy="29999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5826827" name="Google Shape;176;p4:notes"/>
          <p:cNvSpPr txBox="1"/>
          <p:nvPr>
            <p:ph type="body" idx="1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1844571" name="Google Shape;177;p4:notes"/>
          <p:cNvSpPr txBox="1"/>
          <p:nvPr>
            <p:ph type="sldNum" idx="12"/>
          </p:nvPr>
        </p:nvSpPr>
        <p:spPr bwMode="auto"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fld id="{F758ED08-733C-5592-5E56-6C5BB30E264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lide 1 master" preserve="0" showMasterPhAnim="0" showMasterSp="1" userDrawn="1">
  <p:cSld name="Slide 1 master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59585561" name="Google Shape;7;p36" descr="preencoded.png"/>
          <p:cNvPicPr/>
          <p:nvPr/>
        </p:nvPicPr>
        <p:blipFill rotWithShape="1">
          <a:blip r:embed="rId2">
            <a:alphaModFix/>
          </a:blip>
          <a:srcRect l="0" t="0" r="0" b="0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7042026" name="Google Shape;8;p36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5241799" name="Google Shape;9;p36"/>
          <p:cNvSpPr/>
          <p:nvPr/>
        </p:nvSpPr>
        <p:spPr bwMode="auto">
          <a:xfrm>
            <a:off x="171450" y="7806132"/>
            <a:ext cx="6141719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  <a:defRPr/>
            </a:pPr>
            <a:r>
              <a:rPr lang="en-US" sz="1200" b="1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Universidad Nacional de Costa Rica - Programación IV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lide 2 master" preserve="0" showMasterPhAnim="0" showMasterSp="1" userDrawn="1">
  <p:cSld name="Slide 2 master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9849044" name="Google Shape;11;p37" descr="preencoded.png"/>
          <p:cNvPicPr/>
          <p:nvPr/>
        </p:nvPicPr>
        <p:blipFill rotWithShape="1">
          <a:blip r:embed="rId2">
            <a:alphaModFix/>
          </a:blip>
          <a:srcRect l="0" t="0" r="0" b="0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0524971" name="Google Shape;12;p37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960497" name="Google Shape;13;p37"/>
          <p:cNvSpPr/>
          <p:nvPr/>
        </p:nvSpPr>
        <p:spPr bwMode="auto">
          <a:xfrm>
            <a:off x="171450" y="7806132"/>
            <a:ext cx="6141719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  <a:defRPr/>
            </a:pPr>
            <a:r>
              <a:rPr lang="en-US" sz="1200" b="1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Universidad Nacional de Costa Rica - Programación IV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lide 3 master" preserve="0" showMasterPhAnim="0" showMasterSp="1" userDrawn="1">
  <p:cSld name="Slide 3 master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163950" name="Google Shape;15;p38" descr="preencoded.png"/>
          <p:cNvPicPr/>
          <p:nvPr/>
        </p:nvPicPr>
        <p:blipFill rotWithShape="1">
          <a:blip r:embed="rId2">
            <a:alphaModFix/>
          </a:blip>
          <a:srcRect l="0" t="0" r="0" b="0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736816" name="Google Shape;16;p38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7862738" name="Google Shape;17;p38"/>
          <p:cNvSpPr/>
          <p:nvPr/>
        </p:nvSpPr>
        <p:spPr bwMode="auto">
          <a:xfrm>
            <a:off x="171450" y="7806132"/>
            <a:ext cx="6141719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  <a:defRPr/>
            </a:pPr>
            <a:r>
              <a:rPr lang="en-US" sz="1200" b="1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Universidad Nacional de Costa Rica - Programación IV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lide 27 master" preserve="0" showMasterPhAnim="0" showMasterSp="1" userDrawn="1">
  <p:cSld name="Slide 27 master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9482799" name="Google Shape;111;p62" descr="preencoded.png"/>
          <p:cNvPicPr/>
          <p:nvPr/>
        </p:nvPicPr>
        <p:blipFill rotWithShape="1">
          <a:blip r:embed="rId2">
            <a:alphaModFix/>
          </a:blip>
          <a:srcRect l="0" t="0" r="0" b="0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282946" name="Google Shape;112;p62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3697218" name="Google Shape;113;p62"/>
          <p:cNvSpPr/>
          <p:nvPr/>
        </p:nvSpPr>
        <p:spPr bwMode="auto">
          <a:xfrm>
            <a:off x="171450" y="7806132"/>
            <a:ext cx="6141719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  <a:defRPr/>
            </a:pPr>
            <a:r>
              <a:rPr lang="en-US" sz="1200" b="1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Universidad Nacional de Costa Rica - Programación IV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FAULT" preserve="0" showMasterPhAnim="0" showMasterSp="1" userDrawn="1">
  <p:cSld name="DEFAULT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795572" name="Google Shape;135;p68"/>
          <p:cNvSpPr/>
          <p:nvPr/>
        </p:nvSpPr>
        <p:spPr bwMode="auto">
          <a:xfrm>
            <a:off x="171450" y="7806132"/>
            <a:ext cx="6141719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  <a:defRPr/>
            </a:pPr>
            <a:r>
              <a:rPr lang="en-US" sz="1200" b="1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Universidad Nacional de Costa Rica - Programación IV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9298863" name="Google Shape;141;p1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0957150" name="Google Shape;142;p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75000245" name="Google Shape;143;p1" descr="preencoded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758309" y="1127046"/>
            <a:ext cx="151638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349208" name="Google Shape;144;p1"/>
          <p:cNvSpPr/>
          <p:nvPr/>
        </p:nvSpPr>
        <p:spPr bwMode="auto">
          <a:xfrm>
            <a:off x="758309" y="2790349"/>
            <a:ext cx="8818840" cy="60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750"/>
              <a:buFont typeface="Sora SemiBold"/>
              <a:buNone/>
              <a:defRPr/>
            </a:pPr>
            <a:r>
              <a:rPr lang="en-US" sz="3750" b="1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Universidad Nacional de Costa Rica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4146129" name="Google Shape;145;p1"/>
          <p:cNvSpPr/>
          <p:nvPr/>
        </p:nvSpPr>
        <p:spPr bwMode="auto">
          <a:xfrm flipH="0" flipV="0">
            <a:off x="758308" y="3532107"/>
            <a:ext cx="3523778" cy="26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  <a:defRPr/>
            </a:pPr>
            <a:r>
              <a:rPr lang="en-US" sz="1600" b="1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Tutoría: Matemática General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266722" name="Google Shape;146;p1"/>
          <p:cNvSpPr/>
          <p:nvPr/>
        </p:nvSpPr>
        <p:spPr bwMode="auto">
          <a:xfrm>
            <a:off x="758300" y="3933350"/>
            <a:ext cx="132252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8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450"/>
              <a:buFont typeface="Sora SemiBold"/>
              <a:buNone/>
              <a:defRPr/>
            </a:pPr>
            <a:r>
              <a:rPr lang="en-US" sz="5400" b="1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Semana 1</a:t>
            </a:r>
            <a:r>
              <a:rPr lang="en-US" sz="5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Introducción a factorización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0279447" name="Google Shape;147;p1"/>
          <p:cNvSpPr/>
          <p:nvPr/>
        </p:nvSpPr>
        <p:spPr bwMode="auto">
          <a:xfrm>
            <a:off x="758309" y="5818584"/>
            <a:ext cx="13113781" cy="180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00"/>
              <a:buFont typeface="Sora"/>
              <a:buNone/>
              <a:defRPr/>
            </a:pPr>
            <a:r>
              <a:rPr lang="en-US" sz="1200" b="0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I Ciclo 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0478152" name="Google Shape;148;p1"/>
          <p:cNvSpPr/>
          <p:nvPr/>
        </p:nvSpPr>
        <p:spPr bwMode="auto">
          <a:xfrm>
            <a:off x="758309" y="6138386"/>
            <a:ext cx="1746052" cy="21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800"/>
              <a:buFont typeface="Sora SemiBold"/>
              <a:buNone/>
              <a:defRPr/>
            </a:pPr>
            <a:r>
              <a:rPr lang="en-US" sz="1800" b="1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Tutor: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9675755" name="Google Shape;149;p1"/>
          <p:cNvSpPr/>
          <p:nvPr/>
        </p:nvSpPr>
        <p:spPr bwMode="auto">
          <a:xfrm>
            <a:off x="758309" y="6495931"/>
            <a:ext cx="13113781" cy="54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00"/>
              <a:buFont typeface="Sora"/>
              <a:buChar char="•"/>
              <a:defRPr/>
            </a:pPr>
            <a:r>
              <a:rPr lang="en-US" sz="1200" b="0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Matteo Vargas Quesada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5953252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338751" y="1127045"/>
            <a:ext cx="1516388" cy="15163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942967" name="Google Shape;156;p2"/>
          <p:cNvSpPr/>
          <p:nvPr/>
        </p:nvSpPr>
        <p:spPr bwMode="auto">
          <a:xfrm>
            <a:off x="758300" y="2206225"/>
            <a:ext cx="6050400" cy="12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Factorización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011351" name="Google Shape;157;p2"/>
          <p:cNvSpPr/>
          <p:nvPr/>
        </p:nvSpPr>
        <p:spPr bwMode="auto">
          <a:xfrm>
            <a:off x="758309" y="3529013"/>
            <a:ext cx="5798582" cy="249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100"/>
              <a:buFont typeface="Calibri"/>
              <a:buNone/>
              <a:defRPr/>
            </a:pPr>
            <a:r>
              <a:rPr lang="en-US" sz="1700" b="0" i="0" u="none" strike="noStrike" cap="none" spc="0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Factorizar significa descomponer una expresión matemática en el producto de otras expresiones más simples que, al multiplicarse, dan como resultado la expresión original.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573557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33791" y="1368862"/>
            <a:ext cx="7370339" cy="5187486"/>
          </a:xfrm>
          <a:prstGeom prst="rect">
            <a:avLst/>
          </a:prstGeom>
        </p:spPr>
      </p:pic>
      <p:sp>
        <p:nvSpPr>
          <p:cNvPr id="477204637" name=""/>
          <p:cNvSpPr/>
          <p:nvPr/>
        </p:nvSpPr>
        <p:spPr bwMode="auto">
          <a:xfrm>
            <a:off x="2146657" y="6928184"/>
            <a:ext cx="641684" cy="36094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37124" y="13199"/>
                </a:moveTo>
                <a:cubicBezTo>
                  <a:pt x="34424" y="8399"/>
                  <a:pt x="30374" y="6000"/>
                  <a:pt x="23624" y="3599"/>
                </a:cubicBezTo>
                <a:cubicBezTo>
                  <a:pt x="13500" y="0"/>
                  <a:pt x="6075" y="0"/>
                  <a:pt x="1350" y="1199"/>
                </a:cubicBezTo>
                <a:cubicBezTo>
                  <a:pt x="0" y="6000"/>
                  <a:pt x="1350" y="14400"/>
                  <a:pt x="5399" y="20400"/>
                </a:cubicBezTo>
                <a:cubicBezTo>
                  <a:pt x="12824" y="25199"/>
                  <a:pt x="21600" y="32400"/>
                  <a:pt x="31050" y="38400"/>
                </a:cubicBezTo>
                <a:quadBezTo>
                  <a:pt x="39150" y="40800"/>
                  <a:pt x="43200" y="43200"/>
                </a:quadBezTo>
              </a:path>
            </a:pathLst>
          </a:custGeom>
          <a:noFill/>
          <a:ln w="3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662766" name=""/>
          <p:cNvSpPr/>
          <p:nvPr/>
        </p:nvSpPr>
        <p:spPr bwMode="auto">
          <a:xfrm>
            <a:off x="151421" y="7800473"/>
            <a:ext cx="3428999" cy="27071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37642" y="12799"/>
                </a:moveTo>
                <a:cubicBezTo>
                  <a:pt x="38147" y="15999"/>
                  <a:pt x="39536" y="19200"/>
                  <a:pt x="40042" y="19200"/>
                </a:cubicBezTo>
                <a:cubicBezTo>
                  <a:pt x="40799" y="19200"/>
                  <a:pt x="41936" y="19200"/>
                  <a:pt x="42694" y="19200"/>
                </a:cubicBezTo>
                <a:cubicBezTo>
                  <a:pt x="41557" y="15999"/>
                  <a:pt x="40799" y="15999"/>
                  <a:pt x="39663" y="17600"/>
                </a:cubicBezTo>
                <a:cubicBezTo>
                  <a:pt x="38652" y="22400"/>
                  <a:pt x="39915" y="27200"/>
                  <a:pt x="41178" y="27200"/>
                </a:cubicBezTo>
                <a:cubicBezTo>
                  <a:pt x="42568" y="22400"/>
                  <a:pt x="43200" y="15999"/>
                  <a:pt x="42694" y="9600"/>
                </a:cubicBezTo>
                <a:cubicBezTo>
                  <a:pt x="41810" y="9600"/>
                  <a:pt x="41052" y="12799"/>
                  <a:pt x="40042" y="15999"/>
                </a:cubicBezTo>
                <a:cubicBezTo>
                  <a:pt x="39157" y="17600"/>
                  <a:pt x="38652" y="19200"/>
                  <a:pt x="40042" y="19200"/>
                </a:cubicBezTo>
                <a:cubicBezTo>
                  <a:pt x="41052" y="17600"/>
                  <a:pt x="41936" y="15999"/>
                  <a:pt x="42442" y="14400"/>
                </a:cubicBezTo>
                <a:cubicBezTo>
                  <a:pt x="41557" y="12799"/>
                  <a:pt x="40294" y="9600"/>
                  <a:pt x="38273" y="9600"/>
                </a:cubicBezTo>
                <a:cubicBezTo>
                  <a:pt x="36631" y="9600"/>
                  <a:pt x="35242" y="9600"/>
                  <a:pt x="34736" y="12799"/>
                </a:cubicBezTo>
                <a:cubicBezTo>
                  <a:pt x="35242" y="12799"/>
                  <a:pt x="36000" y="14400"/>
                  <a:pt x="37010" y="14400"/>
                </a:cubicBezTo>
                <a:cubicBezTo>
                  <a:pt x="37894" y="14400"/>
                  <a:pt x="38905" y="14400"/>
                  <a:pt x="39663" y="12799"/>
                </a:cubicBezTo>
                <a:cubicBezTo>
                  <a:pt x="39157" y="7999"/>
                  <a:pt x="38273" y="7999"/>
                  <a:pt x="36757" y="7999"/>
                </a:cubicBezTo>
                <a:cubicBezTo>
                  <a:pt x="35368" y="7999"/>
                  <a:pt x="33978" y="9600"/>
                  <a:pt x="33347" y="9600"/>
                </a:cubicBezTo>
                <a:cubicBezTo>
                  <a:pt x="34610" y="9600"/>
                  <a:pt x="35621" y="9600"/>
                  <a:pt x="36252" y="9600"/>
                </a:cubicBezTo>
                <a:cubicBezTo>
                  <a:pt x="34989" y="6400"/>
                  <a:pt x="33473" y="4800"/>
                  <a:pt x="32589" y="6400"/>
                </a:cubicBezTo>
                <a:cubicBezTo>
                  <a:pt x="31957" y="9600"/>
                  <a:pt x="32336" y="14400"/>
                  <a:pt x="33221" y="14400"/>
                </a:cubicBezTo>
                <a:cubicBezTo>
                  <a:pt x="34610" y="15999"/>
                  <a:pt x="35621" y="15999"/>
                  <a:pt x="36378" y="17600"/>
                </a:cubicBezTo>
                <a:cubicBezTo>
                  <a:pt x="34736" y="17600"/>
                  <a:pt x="33726" y="22400"/>
                  <a:pt x="33221" y="23999"/>
                </a:cubicBezTo>
                <a:cubicBezTo>
                  <a:pt x="32842" y="27200"/>
                  <a:pt x="33852" y="28799"/>
                  <a:pt x="35368" y="36799"/>
                </a:cubicBezTo>
                <a:cubicBezTo>
                  <a:pt x="36757" y="41599"/>
                  <a:pt x="37768" y="43200"/>
                  <a:pt x="38273" y="43200"/>
                </a:cubicBezTo>
                <a:cubicBezTo>
                  <a:pt x="36631" y="36799"/>
                  <a:pt x="34610" y="35200"/>
                  <a:pt x="32463" y="33599"/>
                </a:cubicBezTo>
                <a:cubicBezTo>
                  <a:pt x="31073" y="33599"/>
                  <a:pt x="30568" y="33599"/>
                  <a:pt x="31073" y="31999"/>
                </a:cubicBezTo>
                <a:cubicBezTo>
                  <a:pt x="31705" y="28799"/>
                  <a:pt x="32336" y="28799"/>
                  <a:pt x="32842" y="25599"/>
                </a:cubicBezTo>
                <a:cubicBezTo>
                  <a:pt x="31831" y="22400"/>
                  <a:pt x="30568" y="22400"/>
                  <a:pt x="29684" y="22400"/>
                </a:cubicBezTo>
                <a:cubicBezTo>
                  <a:pt x="30821" y="22400"/>
                  <a:pt x="31705" y="19200"/>
                  <a:pt x="32336" y="17600"/>
                </a:cubicBezTo>
                <a:cubicBezTo>
                  <a:pt x="31326" y="15999"/>
                  <a:pt x="30315" y="14400"/>
                  <a:pt x="29431" y="14400"/>
                </a:cubicBezTo>
                <a:cubicBezTo>
                  <a:pt x="28168" y="14400"/>
                  <a:pt x="27536" y="14400"/>
                  <a:pt x="28421" y="7999"/>
                </a:cubicBezTo>
                <a:cubicBezTo>
                  <a:pt x="29431" y="6400"/>
                  <a:pt x="29431" y="0"/>
                  <a:pt x="28294" y="0"/>
                </a:cubicBezTo>
                <a:cubicBezTo>
                  <a:pt x="26778" y="3200"/>
                  <a:pt x="25263" y="4800"/>
                  <a:pt x="24000" y="7999"/>
                </a:cubicBezTo>
                <a:cubicBezTo>
                  <a:pt x="23368" y="12799"/>
                  <a:pt x="24378" y="17600"/>
                  <a:pt x="25515" y="19200"/>
                </a:cubicBezTo>
                <a:cubicBezTo>
                  <a:pt x="27157" y="19200"/>
                  <a:pt x="27915" y="17600"/>
                  <a:pt x="26652" y="15999"/>
                </a:cubicBezTo>
                <a:cubicBezTo>
                  <a:pt x="25136" y="15999"/>
                  <a:pt x="23368" y="15999"/>
                  <a:pt x="22484" y="17600"/>
                </a:cubicBezTo>
                <a:cubicBezTo>
                  <a:pt x="22357" y="23999"/>
                  <a:pt x="23242" y="27200"/>
                  <a:pt x="25263" y="31999"/>
                </a:cubicBezTo>
                <a:cubicBezTo>
                  <a:pt x="27284" y="31999"/>
                  <a:pt x="28926" y="31999"/>
                  <a:pt x="29684" y="28799"/>
                </a:cubicBezTo>
                <a:cubicBezTo>
                  <a:pt x="28673" y="25599"/>
                  <a:pt x="26905" y="23999"/>
                  <a:pt x="25010" y="23999"/>
                </a:cubicBezTo>
                <a:cubicBezTo>
                  <a:pt x="23747" y="25599"/>
                  <a:pt x="23242" y="27200"/>
                  <a:pt x="24378" y="27200"/>
                </a:cubicBezTo>
                <a:cubicBezTo>
                  <a:pt x="25010" y="27200"/>
                  <a:pt x="24378" y="23999"/>
                  <a:pt x="23115" y="22400"/>
                </a:cubicBezTo>
                <a:cubicBezTo>
                  <a:pt x="21347" y="19200"/>
                  <a:pt x="19326" y="15999"/>
                  <a:pt x="18063" y="14400"/>
                </a:cubicBezTo>
                <a:cubicBezTo>
                  <a:pt x="18821" y="14400"/>
                  <a:pt x="20715" y="14400"/>
                  <a:pt x="22357" y="14400"/>
                </a:cubicBezTo>
                <a:cubicBezTo>
                  <a:pt x="23621" y="14400"/>
                  <a:pt x="22105" y="12799"/>
                  <a:pt x="20336" y="12799"/>
                </a:cubicBezTo>
                <a:cubicBezTo>
                  <a:pt x="18947" y="15999"/>
                  <a:pt x="18568" y="19200"/>
                  <a:pt x="19326" y="19200"/>
                </a:cubicBezTo>
                <a:cubicBezTo>
                  <a:pt x="20210" y="19200"/>
                  <a:pt x="20842" y="19200"/>
                  <a:pt x="20336" y="19200"/>
                </a:cubicBezTo>
                <a:cubicBezTo>
                  <a:pt x="19452" y="19200"/>
                  <a:pt x="18821" y="22400"/>
                  <a:pt x="20336" y="23999"/>
                </a:cubicBezTo>
                <a:cubicBezTo>
                  <a:pt x="21600" y="23999"/>
                  <a:pt x="22231" y="23999"/>
                  <a:pt x="21094" y="19200"/>
                </a:cubicBezTo>
                <a:cubicBezTo>
                  <a:pt x="19452" y="14400"/>
                  <a:pt x="17557" y="9600"/>
                  <a:pt x="16294" y="7999"/>
                </a:cubicBezTo>
                <a:cubicBezTo>
                  <a:pt x="15663" y="7999"/>
                  <a:pt x="17178" y="6400"/>
                  <a:pt x="18442" y="6400"/>
                </a:cubicBezTo>
                <a:cubicBezTo>
                  <a:pt x="19326" y="6400"/>
                  <a:pt x="18568" y="6400"/>
                  <a:pt x="17305" y="6400"/>
                </a:cubicBezTo>
                <a:cubicBezTo>
                  <a:pt x="16294" y="7999"/>
                  <a:pt x="15663" y="7999"/>
                  <a:pt x="16547" y="12799"/>
                </a:cubicBezTo>
                <a:cubicBezTo>
                  <a:pt x="17178" y="15999"/>
                  <a:pt x="16421" y="19200"/>
                  <a:pt x="15536" y="22400"/>
                </a:cubicBezTo>
                <a:cubicBezTo>
                  <a:pt x="16421" y="25599"/>
                  <a:pt x="17178" y="23999"/>
                  <a:pt x="16673" y="22400"/>
                </a:cubicBezTo>
                <a:cubicBezTo>
                  <a:pt x="15663" y="22400"/>
                  <a:pt x="14147" y="22400"/>
                  <a:pt x="13010" y="22400"/>
                </a:cubicBezTo>
                <a:cubicBezTo>
                  <a:pt x="12252" y="23999"/>
                  <a:pt x="13136" y="23999"/>
                  <a:pt x="13894" y="23999"/>
                </a:cubicBezTo>
                <a:cubicBezTo>
                  <a:pt x="13136" y="23999"/>
                  <a:pt x="12000" y="23999"/>
                  <a:pt x="11242" y="23999"/>
                </a:cubicBezTo>
                <a:cubicBezTo>
                  <a:pt x="10610" y="25599"/>
                  <a:pt x="11368" y="25599"/>
                  <a:pt x="11873" y="23999"/>
                </a:cubicBezTo>
                <a:cubicBezTo>
                  <a:pt x="11494" y="19200"/>
                  <a:pt x="10610" y="17600"/>
                  <a:pt x="9347" y="17600"/>
                </a:cubicBezTo>
                <a:cubicBezTo>
                  <a:pt x="8463" y="17600"/>
                  <a:pt x="7831" y="17600"/>
                  <a:pt x="7073" y="17600"/>
                </a:cubicBezTo>
                <a:cubicBezTo>
                  <a:pt x="6315" y="19200"/>
                  <a:pt x="5810" y="22400"/>
                  <a:pt x="5178" y="22400"/>
                </a:cubicBezTo>
                <a:cubicBezTo>
                  <a:pt x="4294" y="23999"/>
                  <a:pt x="3663" y="23999"/>
                  <a:pt x="3157" y="23999"/>
                </a:cubicBezTo>
                <a:cubicBezTo>
                  <a:pt x="2652" y="23999"/>
                  <a:pt x="2147" y="23999"/>
                  <a:pt x="1515" y="23999"/>
                </a:cubicBezTo>
                <a:cubicBezTo>
                  <a:pt x="757" y="19200"/>
                  <a:pt x="252" y="15999"/>
                  <a:pt x="0" y="9600"/>
                </a:cubicBezTo>
                <a:cubicBezTo>
                  <a:pt x="378" y="6400"/>
                  <a:pt x="757" y="3200"/>
                  <a:pt x="1389" y="4800"/>
                </a:cubicBezTo>
                <a:cubicBezTo>
                  <a:pt x="2021" y="7999"/>
                  <a:pt x="2652" y="7999"/>
                  <a:pt x="3157" y="9600"/>
                </a:cubicBezTo>
                <a:cubicBezTo>
                  <a:pt x="3536" y="12799"/>
                  <a:pt x="4294" y="15999"/>
                  <a:pt x="5052" y="15999"/>
                </a:cubicBezTo>
                <a:cubicBezTo>
                  <a:pt x="5684" y="15999"/>
                  <a:pt x="6189" y="15999"/>
                  <a:pt x="7200" y="15999"/>
                </a:cubicBezTo>
                <a:cubicBezTo>
                  <a:pt x="7831" y="15999"/>
                  <a:pt x="8589" y="15999"/>
                  <a:pt x="9221" y="15999"/>
                </a:cubicBezTo>
                <a:cubicBezTo>
                  <a:pt x="9852" y="14400"/>
                  <a:pt x="10610" y="14400"/>
                  <a:pt x="11242" y="14400"/>
                </a:cubicBezTo>
                <a:cubicBezTo>
                  <a:pt x="11873" y="12799"/>
                  <a:pt x="12378" y="12799"/>
                  <a:pt x="13010" y="12799"/>
                </a:cubicBezTo>
                <a:cubicBezTo>
                  <a:pt x="13768" y="12799"/>
                  <a:pt x="14273" y="12799"/>
                  <a:pt x="14778" y="12799"/>
                </a:cubicBezTo>
                <a:lnTo>
                  <a:pt x="15536" y="96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9628358" name=""/>
          <p:cNvSpPr/>
          <p:nvPr/>
        </p:nvSpPr>
        <p:spPr bwMode="auto">
          <a:xfrm>
            <a:off x="1504973" y="7880684"/>
            <a:ext cx="691815" cy="9023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21913" y="4800"/>
                </a:moveTo>
                <a:cubicBezTo>
                  <a:pt x="18782" y="4800"/>
                  <a:pt x="15026" y="4800"/>
                  <a:pt x="11895" y="9599"/>
                </a:cubicBezTo>
                <a:cubicBezTo>
                  <a:pt x="8139" y="9599"/>
                  <a:pt x="5008" y="9599"/>
                  <a:pt x="2504" y="4800"/>
                </a:cubicBezTo>
                <a:cubicBezTo>
                  <a:pt x="0" y="4800"/>
                  <a:pt x="1878" y="14400"/>
                  <a:pt x="6886" y="14400"/>
                </a:cubicBezTo>
                <a:cubicBezTo>
                  <a:pt x="10643" y="9599"/>
                  <a:pt x="13147" y="4800"/>
                  <a:pt x="15652" y="0"/>
                </a:cubicBezTo>
                <a:cubicBezTo>
                  <a:pt x="19408" y="0"/>
                  <a:pt x="23165" y="0"/>
                  <a:pt x="26295" y="0"/>
                </a:cubicBezTo>
                <a:cubicBezTo>
                  <a:pt x="28800" y="19200"/>
                  <a:pt x="29426" y="38399"/>
                  <a:pt x="35686" y="43200"/>
                </a:cubicBezTo>
                <a:quadBezTo>
                  <a:pt x="40069" y="38399"/>
                  <a:pt x="43200" y="19200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0579839" name=""/>
          <p:cNvSpPr/>
          <p:nvPr/>
        </p:nvSpPr>
        <p:spPr bwMode="auto">
          <a:xfrm>
            <a:off x="2497578" y="7890710"/>
            <a:ext cx="792078" cy="12031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35544" y="0"/>
                </a:moveTo>
                <a:cubicBezTo>
                  <a:pt x="31716" y="0"/>
                  <a:pt x="26794" y="0"/>
                  <a:pt x="23513" y="0"/>
                </a:cubicBezTo>
                <a:cubicBezTo>
                  <a:pt x="21326" y="3599"/>
                  <a:pt x="26248" y="7199"/>
                  <a:pt x="31169" y="3599"/>
                </a:cubicBezTo>
                <a:cubicBezTo>
                  <a:pt x="35544" y="3599"/>
                  <a:pt x="41012" y="7199"/>
                  <a:pt x="43200" y="10800"/>
                </a:cubicBezTo>
                <a:cubicBezTo>
                  <a:pt x="39372" y="10800"/>
                  <a:pt x="37731" y="18000"/>
                  <a:pt x="36091" y="25199"/>
                </a:cubicBezTo>
                <a:cubicBezTo>
                  <a:pt x="34450" y="32399"/>
                  <a:pt x="31169" y="32399"/>
                  <a:pt x="26248" y="32399"/>
                </a:cubicBezTo>
                <a:cubicBezTo>
                  <a:pt x="22967" y="32399"/>
                  <a:pt x="20232" y="43200"/>
                  <a:pt x="21326" y="32399"/>
                </a:cubicBezTo>
                <a:cubicBezTo>
                  <a:pt x="19139" y="28800"/>
                  <a:pt x="13670" y="25199"/>
                  <a:pt x="8749" y="25199"/>
                </a:cubicBezTo>
                <a:cubicBezTo>
                  <a:pt x="4374" y="28800"/>
                  <a:pt x="9843" y="32399"/>
                  <a:pt x="14217" y="28800"/>
                </a:cubicBezTo>
                <a:cubicBezTo>
                  <a:pt x="16951" y="21599"/>
                  <a:pt x="13670" y="18000"/>
                  <a:pt x="9296" y="10800"/>
                </a:cubicBezTo>
                <a:cubicBezTo>
                  <a:pt x="3281" y="10800"/>
                  <a:pt x="0" y="10800"/>
                  <a:pt x="1093" y="21599"/>
                </a:cubicBezTo>
                <a:cubicBezTo>
                  <a:pt x="4374" y="21599"/>
                  <a:pt x="9296" y="21599"/>
                  <a:pt x="13124" y="21599"/>
                </a:cubicBezTo>
                <a:lnTo>
                  <a:pt x="14217" y="108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633335" name=""/>
          <p:cNvSpPr/>
          <p:nvPr/>
        </p:nvSpPr>
        <p:spPr bwMode="auto">
          <a:xfrm>
            <a:off x="2958788" y="7780420"/>
            <a:ext cx="411078" cy="19049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34770" y="25010"/>
                </a:moveTo>
                <a:cubicBezTo>
                  <a:pt x="25287" y="22736"/>
                  <a:pt x="14751" y="22736"/>
                  <a:pt x="5268" y="18189"/>
                </a:cubicBezTo>
                <a:cubicBezTo>
                  <a:pt x="12643" y="18189"/>
                  <a:pt x="23180" y="18189"/>
                  <a:pt x="32663" y="15915"/>
                </a:cubicBezTo>
                <a:cubicBezTo>
                  <a:pt x="41092" y="11368"/>
                  <a:pt x="43200" y="4547"/>
                  <a:pt x="35824" y="0"/>
                </a:cubicBezTo>
                <a:cubicBezTo>
                  <a:pt x="24234" y="0"/>
                  <a:pt x="13697" y="0"/>
                  <a:pt x="5268" y="4547"/>
                </a:cubicBezTo>
                <a:cubicBezTo>
                  <a:pt x="3160" y="11368"/>
                  <a:pt x="7375" y="18189"/>
                  <a:pt x="14751" y="27284"/>
                </a:cubicBezTo>
                <a:cubicBezTo>
                  <a:pt x="25287" y="38652"/>
                  <a:pt x="35824" y="43200"/>
                  <a:pt x="43200" y="43200"/>
                </a:cubicBezTo>
                <a:cubicBezTo>
                  <a:pt x="37931" y="38652"/>
                  <a:pt x="24234" y="31831"/>
                  <a:pt x="8429" y="29557"/>
                </a:cubicBezTo>
                <a:quadBezTo>
                  <a:pt x="0" y="29557"/>
                  <a:pt x="6321" y="29557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973266" name="Google Shape;163;p3"/>
          <p:cNvSpPr/>
          <p:nvPr/>
        </p:nvSpPr>
        <p:spPr bwMode="auto">
          <a:xfrm>
            <a:off x="758309" y="2754035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950"/>
              <a:buFont typeface="Calibri"/>
              <a:buNone/>
              <a:defRPr/>
            </a:pPr>
            <a:r>
              <a:rPr lang="en-US" sz="1950" b="0" i="0" u="none" strike="noStrike" cap="none">
                <a:solidFill>
                  <a:srgbClr val="DA1B2E"/>
                </a:solidFill>
                <a:latin typeface="Calibri"/>
                <a:ea typeface="Calibri"/>
                <a:cs typeface="Calibri"/>
              </a:rPr>
              <a:t>Visión técnica simple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070912" name="Google Shape;164;p3"/>
          <p:cNvSpPr/>
          <p:nvPr/>
        </p:nvSpPr>
        <p:spPr bwMode="auto">
          <a:xfrm>
            <a:off x="758309" y="3141464"/>
            <a:ext cx="10098286" cy="62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¿Qué es "factorizar"?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8392176" name="Google Shape;165;p3"/>
          <p:cNvSpPr/>
          <p:nvPr/>
        </p:nvSpPr>
        <p:spPr bwMode="auto">
          <a:xfrm>
            <a:off x="758309" y="4049316"/>
            <a:ext cx="4244816" cy="1426250"/>
          </a:xfrm>
          <a:prstGeom prst="roundRect">
            <a:avLst>
              <a:gd name="adj" fmla="val 5583"/>
            </a:avLst>
          </a:prstGeom>
          <a:solidFill>
            <a:srgbClr val="F9D2D6"/>
          </a:solidFill>
          <a:ln w="9525" cap="flat" cmpd="sng">
            <a:solidFill>
              <a:srgbClr val="DFB8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8056350" name="Google Shape;166;p3"/>
          <p:cNvSpPr/>
          <p:nvPr/>
        </p:nvSpPr>
        <p:spPr bwMode="auto">
          <a:xfrm>
            <a:off x="955477" y="4246483"/>
            <a:ext cx="3631049" cy="311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Calibri"/>
              <a:buNone/>
              <a:defRPr/>
            </a:pPr>
            <a:r>
              <a:rPr lang="en-US" sz="1950" b="0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Simplificar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5365527" name="Google Shape;167;p3"/>
          <p:cNvSpPr/>
          <p:nvPr/>
        </p:nvSpPr>
        <p:spPr bwMode="auto">
          <a:xfrm>
            <a:off x="955477" y="4671893"/>
            <a:ext cx="3850481" cy="30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None/>
              <a:defRPr/>
            </a:pPr>
            <a:r>
              <a:rPr lang="en-US" sz="1450" b="0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Simplificar expresiones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1069913" name="Google Shape;168;p3"/>
          <p:cNvSpPr/>
          <p:nvPr/>
        </p:nvSpPr>
        <p:spPr bwMode="auto">
          <a:xfrm>
            <a:off x="5192673" y="4049316"/>
            <a:ext cx="4244935" cy="1426250"/>
          </a:xfrm>
          <a:prstGeom prst="roundRect">
            <a:avLst>
              <a:gd name="adj" fmla="val 5583"/>
            </a:avLst>
          </a:prstGeom>
          <a:solidFill>
            <a:srgbClr val="F9D2D6"/>
          </a:solidFill>
          <a:ln w="9525" cap="flat" cmpd="sng">
            <a:solidFill>
              <a:srgbClr val="DFB8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8304298" name="Google Shape;169;p3"/>
          <p:cNvSpPr/>
          <p:nvPr/>
        </p:nvSpPr>
        <p:spPr bwMode="auto">
          <a:xfrm>
            <a:off x="5389840" y="4246483"/>
            <a:ext cx="2657713" cy="311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Calibri"/>
              <a:buNone/>
              <a:defRPr/>
            </a:pPr>
            <a:r>
              <a:rPr lang="en-US" sz="1950" b="0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Encontrar soluciones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1674303" name="Google Shape;170;p3"/>
          <p:cNvSpPr/>
          <p:nvPr/>
        </p:nvSpPr>
        <p:spPr bwMode="auto">
          <a:xfrm>
            <a:off x="5389840" y="4671893"/>
            <a:ext cx="3850600" cy="60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None/>
              <a:defRPr/>
            </a:pPr>
            <a:r>
              <a:rPr lang="en-US" sz="1450" b="0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Tanto raices como soluciones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2339794" name="Google Shape;171;p3"/>
          <p:cNvSpPr/>
          <p:nvPr/>
        </p:nvSpPr>
        <p:spPr bwMode="auto">
          <a:xfrm>
            <a:off x="9627156" y="4049316"/>
            <a:ext cx="4244816" cy="1426250"/>
          </a:xfrm>
          <a:prstGeom prst="roundRect">
            <a:avLst>
              <a:gd name="adj" fmla="val 5583"/>
            </a:avLst>
          </a:prstGeom>
          <a:solidFill>
            <a:srgbClr val="F9D2D6"/>
          </a:solidFill>
          <a:ln w="9525" cap="flat" cmpd="sng">
            <a:solidFill>
              <a:srgbClr val="DFB8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4054003" name="Google Shape;172;p3"/>
          <p:cNvSpPr/>
          <p:nvPr/>
        </p:nvSpPr>
        <p:spPr bwMode="auto">
          <a:xfrm>
            <a:off x="9824323" y="4246483"/>
            <a:ext cx="2852023" cy="311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Calibri"/>
              <a:buNone/>
              <a:defRPr/>
            </a:pPr>
            <a:r>
              <a:rPr lang="en-US" sz="1950" b="0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Trabajar fracciones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7794769" name="Google Shape;173;p3"/>
          <p:cNvSpPr/>
          <p:nvPr/>
        </p:nvSpPr>
        <p:spPr bwMode="auto">
          <a:xfrm>
            <a:off x="9824323" y="4671893"/>
            <a:ext cx="3850481" cy="60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None/>
              <a:defRPr/>
            </a:pPr>
            <a:r>
              <a:rPr lang="en-US" sz="1450" b="0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Realizar operaciones sobre fracciones y demás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7293490" name=""/>
          <p:cNvSpPr/>
          <p:nvPr/>
        </p:nvSpPr>
        <p:spPr bwMode="auto">
          <a:xfrm>
            <a:off x="171473" y="7820526"/>
            <a:ext cx="3719763" cy="19049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29343" y="40926"/>
                </a:moveTo>
                <a:cubicBezTo>
                  <a:pt x="30274" y="34105"/>
                  <a:pt x="31555" y="29557"/>
                  <a:pt x="32953" y="27284"/>
                </a:cubicBezTo>
                <a:cubicBezTo>
                  <a:pt x="34233" y="22736"/>
                  <a:pt x="35398" y="20463"/>
                  <a:pt x="35864" y="20463"/>
                </a:cubicBezTo>
                <a:cubicBezTo>
                  <a:pt x="34583" y="29557"/>
                  <a:pt x="34001" y="34105"/>
                  <a:pt x="33768" y="40926"/>
                </a:cubicBezTo>
                <a:cubicBezTo>
                  <a:pt x="34233" y="43200"/>
                  <a:pt x="34932" y="43200"/>
                  <a:pt x="35980" y="43200"/>
                </a:cubicBezTo>
                <a:cubicBezTo>
                  <a:pt x="36912" y="43200"/>
                  <a:pt x="37377" y="43200"/>
                  <a:pt x="37028" y="36378"/>
                </a:cubicBezTo>
                <a:cubicBezTo>
                  <a:pt x="35980" y="34105"/>
                  <a:pt x="35049" y="34105"/>
                  <a:pt x="35864" y="40926"/>
                </a:cubicBezTo>
                <a:cubicBezTo>
                  <a:pt x="37727" y="43200"/>
                  <a:pt x="39939" y="43200"/>
                  <a:pt x="41919" y="43200"/>
                </a:cubicBezTo>
                <a:cubicBezTo>
                  <a:pt x="43200" y="36378"/>
                  <a:pt x="42967" y="29557"/>
                  <a:pt x="41686" y="27284"/>
                </a:cubicBezTo>
                <a:cubicBezTo>
                  <a:pt x="38658" y="20463"/>
                  <a:pt x="36213" y="18189"/>
                  <a:pt x="34233" y="13642"/>
                </a:cubicBezTo>
                <a:cubicBezTo>
                  <a:pt x="33069" y="13642"/>
                  <a:pt x="34583" y="18189"/>
                  <a:pt x="36213" y="22736"/>
                </a:cubicBezTo>
                <a:cubicBezTo>
                  <a:pt x="38076" y="22736"/>
                  <a:pt x="39240" y="22736"/>
                  <a:pt x="38076" y="22736"/>
                </a:cubicBezTo>
                <a:cubicBezTo>
                  <a:pt x="36329" y="20463"/>
                  <a:pt x="34350" y="18189"/>
                  <a:pt x="33069" y="18189"/>
                </a:cubicBezTo>
                <a:cubicBezTo>
                  <a:pt x="33651" y="20463"/>
                  <a:pt x="34699" y="20463"/>
                  <a:pt x="35631" y="20463"/>
                </a:cubicBezTo>
                <a:cubicBezTo>
                  <a:pt x="36213" y="20463"/>
                  <a:pt x="35747" y="15915"/>
                  <a:pt x="37028" y="13642"/>
                </a:cubicBezTo>
                <a:cubicBezTo>
                  <a:pt x="37960" y="13642"/>
                  <a:pt x="39008" y="13642"/>
                  <a:pt x="39706" y="13642"/>
                </a:cubicBezTo>
                <a:cubicBezTo>
                  <a:pt x="40288" y="15915"/>
                  <a:pt x="40521" y="9094"/>
                  <a:pt x="40056" y="13642"/>
                </a:cubicBezTo>
                <a:cubicBezTo>
                  <a:pt x="39240" y="13642"/>
                  <a:pt x="38425" y="13642"/>
                  <a:pt x="37610" y="13642"/>
                </a:cubicBezTo>
                <a:cubicBezTo>
                  <a:pt x="37028" y="13642"/>
                  <a:pt x="36446" y="13642"/>
                  <a:pt x="35747" y="13642"/>
                </a:cubicBezTo>
                <a:cubicBezTo>
                  <a:pt x="34699" y="13642"/>
                  <a:pt x="33651" y="13642"/>
                  <a:pt x="31788" y="13642"/>
                </a:cubicBezTo>
                <a:cubicBezTo>
                  <a:pt x="30391" y="13642"/>
                  <a:pt x="29343" y="15915"/>
                  <a:pt x="28877" y="15915"/>
                </a:cubicBezTo>
                <a:cubicBezTo>
                  <a:pt x="29576" y="18189"/>
                  <a:pt x="30624" y="20463"/>
                  <a:pt x="31555" y="20463"/>
                </a:cubicBezTo>
                <a:cubicBezTo>
                  <a:pt x="32021" y="20463"/>
                  <a:pt x="31206" y="18189"/>
                  <a:pt x="30507" y="18189"/>
                </a:cubicBezTo>
                <a:cubicBezTo>
                  <a:pt x="29343" y="18189"/>
                  <a:pt x="28295" y="15915"/>
                  <a:pt x="27480" y="15915"/>
                </a:cubicBezTo>
                <a:cubicBezTo>
                  <a:pt x="28295" y="20463"/>
                  <a:pt x="28877" y="20463"/>
                  <a:pt x="29576" y="20463"/>
                </a:cubicBezTo>
                <a:cubicBezTo>
                  <a:pt x="30042" y="20463"/>
                  <a:pt x="28877" y="22736"/>
                  <a:pt x="27829" y="22736"/>
                </a:cubicBezTo>
                <a:cubicBezTo>
                  <a:pt x="27247" y="29557"/>
                  <a:pt x="27829" y="29557"/>
                  <a:pt x="28295" y="29557"/>
                </a:cubicBezTo>
                <a:cubicBezTo>
                  <a:pt x="27829" y="27284"/>
                  <a:pt x="27130" y="29557"/>
                  <a:pt x="26548" y="31831"/>
                </a:cubicBezTo>
                <a:cubicBezTo>
                  <a:pt x="25850" y="31831"/>
                  <a:pt x="26315" y="31831"/>
                  <a:pt x="26432" y="22736"/>
                </a:cubicBezTo>
                <a:cubicBezTo>
                  <a:pt x="25966" y="20463"/>
                  <a:pt x="25035" y="20463"/>
                  <a:pt x="24219" y="20463"/>
                </a:cubicBezTo>
                <a:cubicBezTo>
                  <a:pt x="23288" y="20463"/>
                  <a:pt x="22356" y="20463"/>
                  <a:pt x="21774" y="20463"/>
                </a:cubicBezTo>
                <a:cubicBezTo>
                  <a:pt x="22240" y="18189"/>
                  <a:pt x="22822" y="15915"/>
                  <a:pt x="21658" y="13642"/>
                </a:cubicBezTo>
                <a:cubicBezTo>
                  <a:pt x="20959" y="13642"/>
                  <a:pt x="21541" y="15915"/>
                  <a:pt x="22240" y="15915"/>
                </a:cubicBezTo>
                <a:cubicBezTo>
                  <a:pt x="22822" y="13642"/>
                  <a:pt x="22356" y="6821"/>
                  <a:pt x="21658" y="4547"/>
                </a:cubicBezTo>
                <a:cubicBezTo>
                  <a:pt x="20493" y="4547"/>
                  <a:pt x="19445" y="4547"/>
                  <a:pt x="18630" y="4547"/>
                </a:cubicBezTo>
                <a:cubicBezTo>
                  <a:pt x="19212" y="4547"/>
                  <a:pt x="19795" y="2273"/>
                  <a:pt x="18980" y="0"/>
                </a:cubicBezTo>
                <a:cubicBezTo>
                  <a:pt x="17932" y="0"/>
                  <a:pt x="16767" y="0"/>
                  <a:pt x="15836" y="0"/>
                </a:cubicBezTo>
                <a:cubicBezTo>
                  <a:pt x="16534" y="2273"/>
                  <a:pt x="17582" y="2273"/>
                  <a:pt x="18164" y="2273"/>
                </a:cubicBezTo>
                <a:cubicBezTo>
                  <a:pt x="17699" y="2273"/>
                  <a:pt x="16534" y="2273"/>
                  <a:pt x="15719" y="4547"/>
                </a:cubicBezTo>
                <a:cubicBezTo>
                  <a:pt x="15137" y="9094"/>
                  <a:pt x="14555" y="13642"/>
                  <a:pt x="14322" y="20463"/>
                </a:cubicBezTo>
                <a:cubicBezTo>
                  <a:pt x="15603" y="27284"/>
                  <a:pt x="16185" y="27284"/>
                  <a:pt x="16534" y="22736"/>
                </a:cubicBezTo>
                <a:cubicBezTo>
                  <a:pt x="15952" y="15915"/>
                  <a:pt x="15021" y="15915"/>
                  <a:pt x="14438" y="15915"/>
                </a:cubicBezTo>
                <a:cubicBezTo>
                  <a:pt x="13740" y="15915"/>
                  <a:pt x="14438" y="18189"/>
                  <a:pt x="15603" y="18189"/>
                </a:cubicBezTo>
                <a:cubicBezTo>
                  <a:pt x="16534" y="18189"/>
                  <a:pt x="17116" y="18189"/>
                  <a:pt x="17699" y="15915"/>
                </a:cubicBezTo>
                <a:cubicBezTo>
                  <a:pt x="18164" y="13642"/>
                  <a:pt x="18980" y="9094"/>
                  <a:pt x="18164" y="9094"/>
                </a:cubicBezTo>
                <a:cubicBezTo>
                  <a:pt x="17116" y="9094"/>
                  <a:pt x="16534" y="13642"/>
                  <a:pt x="15952" y="15915"/>
                </a:cubicBezTo>
                <a:cubicBezTo>
                  <a:pt x="15137" y="15915"/>
                  <a:pt x="14555" y="15915"/>
                  <a:pt x="14089" y="18189"/>
                </a:cubicBezTo>
                <a:cubicBezTo>
                  <a:pt x="13390" y="18189"/>
                  <a:pt x="12226" y="18189"/>
                  <a:pt x="11061" y="18189"/>
                </a:cubicBezTo>
                <a:cubicBezTo>
                  <a:pt x="10246" y="18189"/>
                  <a:pt x="9781" y="18189"/>
                  <a:pt x="10246" y="20463"/>
                </a:cubicBezTo>
                <a:cubicBezTo>
                  <a:pt x="11644" y="22736"/>
                  <a:pt x="12925" y="22736"/>
                  <a:pt x="13623" y="20463"/>
                </a:cubicBezTo>
                <a:cubicBezTo>
                  <a:pt x="13157" y="15915"/>
                  <a:pt x="12109" y="15915"/>
                  <a:pt x="10363" y="15915"/>
                </a:cubicBezTo>
                <a:cubicBezTo>
                  <a:pt x="8733" y="15915"/>
                  <a:pt x="7685" y="18189"/>
                  <a:pt x="7219" y="20463"/>
                </a:cubicBezTo>
                <a:cubicBezTo>
                  <a:pt x="8383" y="22736"/>
                  <a:pt x="9664" y="27284"/>
                  <a:pt x="10945" y="29557"/>
                </a:cubicBezTo>
                <a:cubicBezTo>
                  <a:pt x="11760" y="29557"/>
                  <a:pt x="10479" y="29557"/>
                  <a:pt x="9664" y="31831"/>
                </a:cubicBezTo>
                <a:cubicBezTo>
                  <a:pt x="8500" y="31831"/>
                  <a:pt x="7452" y="29557"/>
                  <a:pt x="6287" y="27284"/>
                </a:cubicBezTo>
                <a:cubicBezTo>
                  <a:pt x="5705" y="27284"/>
                  <a:pt x="5822" y="18189"/>
                  <a:pt x="5123" y="15915"/>
                </a:cubicBezTo>
                <a:cubicBezTo>
                  <a:pt x="4424" y="15915"/>
                  <a:pt x="3609" y="15915"/>
                  <a:pt x="3143" y="15915"/>
                </a:cubicBezTo>
                <a:cubicBezTo>
                  <a:pt x="2678" y="15915"/>
                  <a:pt x="2095" y="15915"/>
                  <a:pt x="1513" y="18189"/>
                </a:cubicBezTo>
                <a:cubicBezTo>
                  <a:pt x="931" y="18189"/>
                  <a:pt x="465" y="15915"/>
                  <a:pt x="0" y="13642"/>
                </a:cubicBezTo>
                <a:cubicBezTo>
                  <a:pt x="232" y="22736"/>
                  <a:pt x="698" y="27284"/>
                  <a:pt x="1513" y="27284"/>
                </a:cubicBezTo>
                <a:cubicBezTo>
                  <a:pt x="2095" y="22736"/>
                  <a:pt x="2794" y="22736"/>
                  <a:pt x="3143" y="18189"/>
                </a:cubicBezTo>
                <a:cubicBezTo>
                  <a:pt x="3609" y="18189"/>
                  <a:pt x="4191" y="15915"/>
                  <a:pt x="5472" y="15915"/>
                </a:cubicBezTo>
                <a:cubicBezTo>
                  <a:pt x="6287" y="15915"/>
                  <a:pt x="7102" y="15915"/>
                  <a:pt x="8034" y="15915"/>
                </a:cubicBezTo>
                <a:cubicBezTo>
                  <a:pt x="8500" y="15915"/>
                  <a:pt x="7452" y="18189"/>
                  <a:pt x="6520" y="20463"/>
                </a:cubicBezTo>
                <a:cubicBezTo>
                  <a:pt x="5822" y="22736"/>
                  <a:pt x="5007" y="27284"/>
                  <a:pt x="4075" y="27284"/>
                </a:cubicBezTo>
                <a:cubicBezTo>
                  <a:pt x="3376" y="27284"/>
                  <a:pt x="2911" y="27284"/>
                  <a:pt x="2445" y="27284"/>
                </a:cubicBezTo>
                <a:cubicBezTo>
                  <a:pt x="2911" y="27284"/>
                  <a:pt x="3376" y="27284"/>
                  <a:pt x="4075" y="22736"/>
                </a:cubicBezTo>
                <a:cubicBezTo>
                  <a:pt x="4890" y="20463"/>
                  <a:pt x="4541" y="15915"/>
                  <a:pt x="3609" y="15915"/>
                </a:cubicBezTo>
                <a:cubicBezTo>
                  <a:pt x="2212" y="15915"/>
                  <a:pt x="698" y="15915"/>
                  <a:pt x="0" y="18189"/>
                </a:cubicBezTo>
                <a:cubicBezTo>
                  <a:pt x="465" y="15915"/>
                  <a:pt x="1513" y="13642"/>
                  <a:pt x="2911" y="9094"/>
                </a:cubicBezTo>
                <a:cubicBezTo>
                  <a:pt x="4075" y="9094"/>
                  <a:pt x="4541" y="6821"/>
                  <a:pt x="6054" y="18189"/>
                </a:cubicBezTo>
                <a:cubicBezTo>
                  <a:pt x="8150" y="20463"/>
                  <a:pt x="10246" y="20463"/>
                  <a:pt x="12226" y="20463"/>
                </a:cubicBezTo>
                <a:cubicBezTo>
                  <a:pt x="14438" y="22736"/>
                  <a:pt x="16534" y="22736"/>
                  <a:pt x="17815" y="22736"/>
                </a:cubicBezTo>
                <a:cubicBezTo>
                  <a:pt x="18281" y="22736"/>
                  <a:pt x="17466" y="20463"/>
                  <a:pt x="16884" y="29557"/>
                </a:cubic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062370" name="Google Shape;180;p4"/>
          <p:cNvSpPr/>
          <p:nvPr/>
        </p:nvSpPr>
        <p:spPr bwMode="auto">
          <a:xfrm flipH="0" flipV="0">
            <a:off x="7341988" y="2206108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Analogía: limpiar algebraicamente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5369280" name="Google Shape;181;p4"/>
          <p:cNvSpPr/>
          <p:nvPr/>
        </p:nvSpPr>
        <p:spPr bwMode="auto">
          <a:xfrm>
            <a:off x="7341988" y="3063829"/>
            <a:ext cx="6530102" cy="37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850"/>
              <a:buFont typeface="Calibri"/>
              <a:buNone/>
              <a:defRPr/>
            </a:pPr>
            <a:r>
              <a:rPr lang="en-US" sz="1850" b="0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Piense en que factorizar es como limpiar y simplificar una ecuación algebraica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3077247" name="Google Shape;182;p4"/>
          <p:cNvSpPr/>
          <p:nvPr/>
        </p:nvSpPr>
        <p:spPr bwMode="auto">
          <a:xfrm>
            <a:off x="7341988" y="3994484"/>
            <a:ext cx="6530102" cy="121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Char char="•"/>
              <a:defRPr/>
            </a:pPr>
            <a:r>
              <a:rPr lang="en-US" sz="1450" b="1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Descomponer expresiones</a:t>
            </a:r>
            <a:endParaRPr lang="en-US" sz="1450" b="1" i="0" u="none" strike="noStrike" cap="none">
              <a:solidFill>
                <a:srgbClr val="3B3535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Char char="•"/>
              <a:defRPr/>
            </a:pPr>
            <a:r>
              <a:rPr lang="en-US" sz="1450" b="1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Escribirlas como multiplicación</a:t>
            </a:r>
            <a:endParaRPr lang="en-US" sz="1450" b="1" i="0" u="none" strike="noStrike" cap="none">
              <a:solidFill>
                <a:srgbClr val="3B3535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Char char="•"/>
              <a:defRPr/>
            </a:pPr>
            <a:r>
              <a:rPr lang="en-US" sz="1450" b="1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Mantener los mismos valores originales pero ordenaditos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Char char="•"/>
              <a:defRPr/>
            </a:pP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8334096" name="Google Shape;183;p4"/>
          <p:cNvSpPr/>
          <p:nvPr/>
        </p:nvSpPr>
        <p:spPr bwMode="auto">
          <a:xfrm>
            <a:off x="7341989" y="5132846"/>
            <a:ext cx="6530102" cy="75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r>
              <a:rPr lang="en-US" sz="1850" b="1" i="0" u="none" strike="noStrike" cap="none">
                <a:solidFill>
                  <a:srgbClr val="DA1B2E"/>
                </a:solidFill>
                <a:latin typeface="Calibri"/>
                <a:ea typeface="Calibri"/>
                <a:cs typeface="Calibri"/>
              </a:rPr>
              <a:t>Si la ecuación es más pequeña y legible resulta más sencilla de seguir trabajando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7531417" name=""/>
          <p:cNvSpPr/>
          <p:nvPr/>
        </p:nvSpPr>
        <p:spPr bwMode="auto">
          <a:xfrm>
            <a:off x="181499" y="7750342"/>
            <a:ext cx="3459078" cy="23060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3036896" name=""/>
          <p:cNvSpPr/>
          <p:nvPr/>
        </p:nvSpPr>
        <p:spPr bwMode="auto">
          <a:xfrm>
            <a:off x="1364776" y="3555456"/>
            <a:ext cx="1228328" cy="90532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en-US" sz="280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28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en-US" sz="28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-25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x+5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560447044" name=""/>
          <p:cNvSpPr/>
          <p:nvPr/>
        </p:nvSpPr>
        <p:spPr bwMode="auto">
          <a:xfrm>
            <a:off x="3003849" y="3675871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360668755" name=""/>
          <p:cNvSpPr/>
          <p:nvPr/>
        </p:nvSpPr>
        <p:spPr bwMode="auto">
          <a:xfrm>
            <a:off x="4739824" y="3721771"/>
            <a:ext cx="906484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2800">
                          <a:latin typeface="Cambria Math"/>
                          <a:ea typeface="Cambria Math"/>
                          <a:cs typeface="Cambria Math"/>
                        </a:rPr>
                        <m:t>x-5</m:t>
                      </m:r>
                    </m:oMath>
                  </m:oMathPara>
                </a14:m>
              </mc:Choice>
              <mc:Fallback/>
            </mc:AlternateContent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181088576" name=""/>
          <p:cNvSpPr/>
          <p:nvPr/>
        </p:nvSpPr>
        <p:spPr bwMode="auto">
          <a:xfrm rot="0" flipH="0" flipV="0">
            <a:off x="2881846" y="3805570"/>
            <a:ext cx="1564104" cy="350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1B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9709621" name=""/>
          <p:cNvSpPr/>
          <p:nvPr/>
        </p:nvSpPr>
        <p:spPr bwMode="auto">
          <a:xfrm>
            <a:off x="171473" y="7860631"/>
            <a:ext cx="3298657" cy="18047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723315" name="Google Shape;180;p4"/>
          <p:cNvSpPr/>
          <p:nvPr/>
        </p:nvSpPr>
        <p:spPr bwMode="auto">
          <a:xfrm flipH="0" flipV="0">
            <a:off x="233330" y="232613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1: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163121" name="Google Shape;183;p4"/>
          <p:cNvSpPr/>
          <p:nvPr/>
        </p:nvSpPr>
        <p:spPr bwMode="auto"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7679773" name=""/>
          <p:cNvSpPr/>
          <p:nvPr/>
        </p:nvSpPr>
        <p:spPr bwMode="auto">
          <a:xfrm>
            <a:off x="181499" y="7750342"/>
            <a:ext cx="3459078" cy="23060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917891" name=""/>
          <p:cNvSpPr/>
          <p:nvPr/>
        </p:nvSpPr>
        <p:spPr bwMode="auto"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788640157" name=""/>
          <p:cNvSpPr/>
          <p:nvPr/>
        </p:nvSpPr>
        <p:spPr bwMode="auto"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2051753038" name=""/>
          <p:cNvSpPr/>
          <p:nvPr/>
        </p:nvSpPr>
        <p:spPr bwMode="auto">
          <a:xfrm>
            <a:off x="6559707" y="3209472"/>
            <a:ext cx="1193790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3(x+4)</a:t>
            </a: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61309246" name=""/>
          <p:cNvSpPr/>
          <p:nvPr/>
        </p:nvSpPr>
        <p:spPr bwMode="auto">
          <a:xfrm>
            <a:off x="171473" y="7860631"/>
            <a:ext cx="3298657" cy="18047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723481" name="Google Shape;180;p4"/>
          <p:cNvSpPr/>
          <p:nvPr/>
        </p:nvSpPr>
        <p:spPr bwMode="auto">
          <a:xfrm flipH="0" flipV="0">
            <a:off x="233330" y="232613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1: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7406400" name="Google Shape;183;p4"/>
          <p:cNvSpPr/>
          <p:nvPr/>
        </p:nvSpPr>
        <p:spPr bwMode="auto"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8622953" name=""/>
          <p:cNvSpPr/>
          <p:nvPr/>
        </p:nvSpPr>
        <p:spPr bwMode="auto">
          <a:xfrm>
            <a:off x="181499" y="7750342"/>
            <a:ext cx="3459078" cy="23060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298412" name=""/>
          <p:cNvSpPr/>
          <p:nvPr/>
        </p:nvSpPr>
        <p:spPr bwMode="auto"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901016017" name=""/>
          <p:cNvSpPr/>
          <p:nvPr/>
        </p:nvSpPr>
        <p:spPr bwMode="auto"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084789099" name=""/>
          <p:cNvSpPr/>
          <p:nvPr/>
        </p:nvSpPr>
        <p:spPr bwMode="auto">
          <a:xfrm>
            <a:off x="5791488" y="3209472"/>
            <a:ext cx="2735987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3(x+4) = 3x + 12</a:t>
            </a: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083186177" name=""/>
          <p:cNvSpPr/>
          <p:nvPr/>
        </p:nvSpPr>
        <p:spPr bwMode="auto">
          <a:xfrm>
            <a:off x="171473" y="7860631"/>
            <a:ext cx="3298657" cy="18047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09870" name="Google Shape;180;p4"/>
          <p:cNvSpPr/>
          <p:nvPr/>
        </p:nvSpPr>
        <p:spPr bwMode="auto">
          <a:xfrm flipH="0" flipV="0">
            <a:off x="233330" y="232613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1: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038723" name="Google Shape;183;p4"/>
          <p:cNvSpPr/>
          <p:nvPr/>
        </p:nvSpPr>
        <p:spPr bwMode="auto"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6330462" name=""/>
          <p:cNvSpPr/>
          <p:nvPr/>
        </p:nvSpPr>
        <p:spPr bwMode="auto">
          <a:xfrm>
            <a:off x="181499" y="7750342"/>
            <a:ext cx="3459078" cy="23060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75310" name=""/>
          <p:cNvSpPr/>
          <p:nvPr/>
        </p:nvSpPr>
        <p:spPr bwMode="auto"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2105090593" name=""/>
          <p:cNvSpPr/>
          <p:nvPr/>
        </p:nvSpPr>
        <p:spPr bwMode="auto"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78442681" name=""/>
          <p:cNvSpPr/>
          <p:nvPr/>
        </p:nvSpPr>
        <p:spPr bwMode="auto">
          <a:xfrm>
            <a:off x="5791488" y="3209472"/>
            <a:ext cx="2735987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3(x+4) = 3x + 12</a:t>
            </a: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751134539" name=""/>
          <p:cNvSpPr/>
          <p:nvPr/>
        </p:nvSpPr>
        <p:spPr bwMode="auto">
          <a:xfrm>
            <a:off x="171473" y="7860631"/>
            <a:ext cx="3298657" cy="18047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705587" name="Google Shape;183;p4"/>
          <p:cNvSpPr/>
          <p:nvPr/>
        </p:nvSpPr>
        <p:spPr bwMode="auto">
          <a:xfrm>
            <a:off x="4253883" y="4114800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r>
              <a:rPr lang="en-US" sz="1850" b="1" i="0" u="none" strike="noStrike" cap="none">
                <a:solidFill>
                  <a:srgbClr val="DA1B2E"/>
                </a:solidFill>
                <a:latin typeface="Calibri"/>
                <a:ea typeface="Calibri"/>
                <a:cs typeface="Calibri"/>
              </a:rPr>
              <a:t>Si multiplicar es expandir la expresión, qué es factorizar?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786490" name="Google Shape;180;p4"/>
          <p:cNvSpPr/>
          <p:nvPr/>
        </p:nvSpPr>
        <p:spPr bwMode="auto">
          <a:xfrm flipH="0" flipV="0">
            <a:off x="233330" y="232613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1: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834267" name="Google Shape;183;p4"/>
          <p:cNvSpPr/>
          <p:nvPr/>
        </p:nvSpPr>
        <p:spPr bwMode="auto"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9431518" name=""/>
          <p:cNvSpPr/>
          <p:nvPr/>
        </p:nvSpPr>
        <p:spPr bwMode="auto">
          <a:xfrm>
            <a:off x="181499" y="7750342"/>
            <a:ext cx="3459078" cy="23060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8015251" name=""/>
          <p:cNvSpPr/>
          <p:nvPr/>
        </p:nvSpPr>
        <p:spPr bwMode="auto"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607519730" name=""/>
          <p:cNvSpPr/>
          <p:nvPr/>
        </p:nvSpPr>
        <p:spPr bwMode="auto"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514458224" name=""/>
          <p:cNvSpPr/>
          <p:nvPr/>
        </p:nvSpPr>
        <p:spPr bwMode="auto">
          <a:xfrm>
            <a:off x="5791488" y="3209472"/>
            <a:ext cx="2735987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3(x+4) = 3x + 12</a:t>
            </a: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807243184" name=""/>
          <p:cNvSpPr/>
          <p:nvPr/>
        </p:nvSpPr>
        <p:spPr bwMode="auto">
          <a:xfrm>
            <a:off x="171473" y="7860631"/>
            <a:ext cx="3298657" cy="18047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528101" name="Google Shape;183;p4"/>
          <p:cNvSpPr/>
          <p:nvPr/>
        </p:nvSpPr>
        <p:spPr bwMode="auto">
          <a:xfrm>
            <a:off x="4253883" y="4114800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r>
              <a:rPr lang="en-US" sz="1850" b="1" i="0" u="none" strike="noStrike" cap="none">
                <a:solidFill>
                  <a:srgbClr val="DA1B2E"/>
                </a:solidFill>
                <a:latin typeface="Calibri"/>
                <a:ea typeface="Calibri"/>
                <a:cs typeface="Calibri"/>
              </a:rPr>
              <a:t>Si multiplicar es expandir la expresión, qué es factorizar?</a:t>
            </a:r>
            <a:br>
              <a:rPr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</a:br>
            <a:r>
              <a:rPr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Es el proceso inverso de distribuir o multiplicar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9765546" name=""/>
          <p:cNvSpPr/>
          <p:nvPr/>
        </p:nvSpPr>
        <p:spPr bwMode="auto">
          <a:xfrm rot="16199969" flipH="0" flipV="1">
            <a:off x="6618099" y="1558877"/>
            <a:ext cx="932447" cy="2211861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DA1B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635780" name="Google Shape;183;p4"/>
          <p:cNvSpPr/>
          <p:nvPr/>
        </p:nvSpPr>
        <p:spPr bwMode="auto">
          <a:xfrm>
            <a:off x="6905193" y="1906616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r>
              <a:rPr lang="en-US" sz="1850" b="1" i="0" u="none" strike="noStrike" cap="none">
                <a:solidFill>
                  <a:srgbClr val="DA1B2E"/>
                </a:solidFill>
                <a:latin typeface="Calibri"/>
                <a:ea typeface="Calibri"/>
                <a:cs typeface="Calibri"/>
              </a:rPr>
              <a:t>ctrl-z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833506" name="Google Shape;180;p4"/>
          <p:cNvSpPr/>
          <p:nvPr/>
        </p:nvSpPr>
        <p:spPr bwMode="auto">
          <a:xfrm flipH="0" flipV="0">
            <a:off x="3662768" y="3416227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Pregunta: Qué es un monomio?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3837359" name="Google Shape;183;p4"/>
          <p:cNvSpPr/>
          <p:nvPr/>
        </p:nvSpPr>
        <p:spPr bwMode="auto"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5948019" name=""/>
          <p:cNvSpPr/>
          <p:nvPr/>
        </p:nvSpPr>
        <p:spPr bwMode="auto">
          <a:xfrm>
            <a:off x="181499" y="7750342"/>
            <a:ext cx="3459078" cy="23060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6766422" name=""/>
          <p:cNvSpPr/>
          <p:nvPr/>
        </p:nvSpPr>
        <p:spPr bwMode="auto"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668041118" name=""/>
          <p:cNvSpPr/>
          <p:nvPr/>
        </p:nvSpPr>
        <p:spPr bwMode="auto"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821868013" name=""/>
          <p:cNvSpPr/>
          <p:nvPr/>
        </p:nvSpPr>
        <p:spPr bwMode="auto">
          <a:xfrm>
            <a:off x="171473" y="7860631"/>
            <a:ext cx="3298657" cy="18047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256755" name="Google Shape;180;p4"/>
          <p:cNvSpPr/>
          <p:nvPr/>
        </p:nvSpPr>
        <p:spPr bwMode="auto">
          <a:xfrm flipH="0" flipV="0">
            <a:off x="3662768" y="2074599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Pregunta: Qué es un monomio?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7854791" name="Google Shape;183;p4"/>
          <p:cNvSpPr/>
          <p:nvPr/>
        </p:nvSpPr>
        <p:spPr bwMode="auto"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4453737" name=""/>
          <p:cNvSpPr/>
          <p:nvPr/>
        </p:nvSpPr>
        <p:spPr bwMode="auto">
          <a:xfrm>
            <a:off x="181499" y="7750342"/>
            <a:ext cx="3459078" cy="23060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8204127" name=""/>
          <p:cNvSpPr/>
          <p:nvPr/>
        </p:nvSpPr>
        <p:spPr bwMode="auto"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508555391" name=""/>
          <p:cNvSpPr/>
          <p:nvPr/>
        </p:nvSpPr>
        <p:spPr bwMode="auto"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2002795776" name=""/>
          <p:cNvSpPr/>
          <p:nvPr/>
        </p:nvSpPr>
        <p:spPr bwMode="auto">
          <a:xfrm>
            <a:off x="171473" y="7860631"/>
            <a:ext cx="3298657" cy="18047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600886" name="Google Shape;183;p4"/>
          <p:cNvSpPr/>
          <p:nvPr/>
        </p:nvSpPr>
        <p:spPr bwMode="auto">
          <a:xfrm flipH="0" flipV="0">
            <a:off x="1548263" y="3468732"/>
            <a:ext cx="1194134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r>
              <a:rPr lang="en-US" sz="1850" b="1" i="0" u="none" strike="noStrike" cap="none">
                <a:solidFill>
                  <a:srgbClr val="DA1B2E"/>
                </a:solidFill>
                <a:latin typeface="Calibri"/>
                <a:ea typeface="Calibri"/>
                <a:cs typeface="Calibri"/>
              </a:rPr>
              <a:t>Es una expresión algebraica formada por un solo término</a:t>
            </a:r>
            <a:br>
              <a:rPr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</a:br>
            <a:r>
              <a:rPr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En simples palabras: es un numero (opcionalmente multiplicando algo)</a:t>
            </a:r>
            <a:r>
              <a:rPr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85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sin sumas ni restas separando partes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72316" name=""/>
          <p:cNvSpPr/>
          <p:nvPr/>
        </p:nvSpPr>
        <p:spPr bwMode="auto">
          <a:xfrm>
            <a:off x="2147547" y="5280854"/>
            <a:ext cx="1413736" cy="181076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67</a:t>
            </a:r>
            <a:endParaRPr sz="2800"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5x</a:t>
            </a:r>
            <a:endParaRPr sz="2800"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-3a</a:t>
            </a:r>
            <a:endParaRPr sz="2800"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-2</m:t>
                      </m:r>
                      <m:sSup>
                        <m:sSupPr>
                          <m:ctrlPr>
                            <a:rPr lang="en-US" sz="2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-141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sz="280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16296639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62768" y="5558538"/>
            <a:ext cx="893368" cy="893368"/>
          </a:xfrm>
          <a:prstGeom prst="rect">
            <a:avLst/>
          </a:prstGeom>
        </p:spPr>
      </p:pic>
      <p:sp>
        <p:nvSpPr>
          <p:cNvPr id="1610861815" name=""/>
          <p:cNvSpPr/>
          <p:nvPr/>
        </p:nvSpPr>
        <p:spPr bwMode="auto">
          <a:xfrm>
            <a:off x="8085020" y="5851813"/>
            <a:ext cx="1803237" cy="9452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6x</a:t>
            </a:r>
            <a:r>
              <a:rPr sz="2800">
                <a:solidFill>
                  <a:srgbClr val="DA1B2E"/>
                </a:solidFill>
                <a:latin typeface="Cambria Math"/>
                <a:ea typeface="Cambria Math"/>
                <a:cs typeface="Cambria Math"/>
              </a:rPr>
              <a:t> +</a:t>
            </a:r>
            <a:r>
              <a:rPr sz="2800">
                <a:latin typeface="Cambria Math"/>
                <a:ea typeface="Cambria Math"/>
                <a:cs typeface="Cambria Math"/>
              </a:rPr>
              <a:t> 2y</a:t>
            </a:r>
            <a:r>
              <a:rPr sz="2800">
                <a:solidFill>
                  <a:srgbClr val="DA1B2E"/>
                </a:solidFill>
                <a:latin typeface="Cambria Math"/>
                <a:ea typeface="Cambria Math"/>
                <a:cs typeface="Cambria Math"/>
              </a:rPr>
              <a:t> -</a:t>
            </a:r>
            <a:r>
              <a:rPr sz="2800">
                <a:latin typeface="Cambria Math"/>
                <a:ea typeface="Cambria Math"/>
                <a:cs typeface="Cambria Math"/>
              </a:rPr>
              <a:t> z</a:t>
            </a:r>
            <a:endParaRPr sz="2800"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93364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122356" y="5463410"/>
            <a:ext cx="1074160" cy="1276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972649" name="Google Shape;180;p4"/>
          <p:cNvSpPr/>
          <p:nvPr/>
        </p:nvSpPr>
        <p:spPr bwMode="auto">
          <a:xfrm flipH="0" flipV="0">
            <a:off x="233330" y="232613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2:</a:t>
            </a:r>
            <a:r>
              <a: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9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Factorización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0019506" name="Google Shape;183;p4"/>
          <p:cNvSpPr/>
          <p:nvPr/>
        </p:nvSpPr>
        <p:spPr bwMode="auto"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0964825" name=""/>
          <p:cNvSpPr/>
          <p:nvPr/>
        </p:nvSpPr>
        <p:spPr bwMode="auto">
          <a:xfrm>
            <a:off x="181499" y="7750342"/>
            <a:ext cx="3459078" cy="23060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0785955" name=""/>
          <p:cNvSpPr/>
          <p:nvPr/>
        </p:nvSpPr>
        <p:spPr bwMode="auto"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436986342" name=""/>
          <p:cNvSpPr/>
          <p:nvPr/>
        </p:nvSpPr>
        <p:spPr bwMode="auto"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602876519" name=""/>
          <p:cNvSpPr/>
          <p:nvPr/>
        </p:nvSpPr>
        <p:spPr bwMode="auto">
          <a:xfrm>
            <a:off x="6498054" y="3209472"/>
            <a:ext cx="1326096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7y + 7z</a:t>
            </a: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982600999" name=""/>
          <p:cNvSpPr/>
          <p:nvPr/>
        </p:nvSpPr>
        <p:spPr bwMode="auto">
          <a:xfrm>
            <a:off x="171473" y="7860631"/>
            <a:ext cx="3298657" cy="18047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02966" name="Google Shape;180;p4"/>
          <p:cNvSpPr/>
          <p:nvPr/>
        </p:nvSpPr>
        <p:spPr bwMode="auto">
          <a:xfrm flipH="0" flipV="0">
            <a:off x="233330" y="232612"/>
            <a:ext cx="6996667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2:</a:t>
            </a:r>
            <a:r>
              <a: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9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Factorización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3607529" name="Google Shape;183;p4"/>
          <p:cNvSpPr/>
          <p:nvPr/>
        </p:nvSpPr>
        <p:spPr bwMode="auto">
          <a:xfrm>
            <a:off x="4253882" y="5343397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8062463" name=""/>
          <p:cNvSpPr/>
          <p:nvPr/>
        </p:nvSpPr>
        <p:spPr bwMode="auto">
          <a:xfrm>
            <a:off x="181498" y="7750341"/>
            <a:ext cx="3459078" cy="23060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7407057" name=""/>
          <p:cNvSpPr/>
          <p:nvPr/>
        </p:nvSpPr>
        <p:spPr bwMode="auto">
          <a:xfrm>
            <a:off x="1667083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562294770" name=""/>
          <p:cNvSpPr/>
          <p:nvPr/>
        </p:nvSpPr>
        <p:spPr bwMode="auto">
          <a:xfrm>
            <a:off x="11566321" y="186712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314143161" name=""/>
          <p:cNvSpPr/>
          <p:nvPr/>
        </p:nvSpPr>
        <p:spPr bwMode="auto">
          <a:xfrm>
            <a:off x="5692823" y="3209472"/>
            <a:ext cx="2940873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7y + 7z = </a:t>
            </a:r>
            <a:r>
              <a:rPr sz="2800">
                <a:solidFill>
                  <a:srgbClr val="DA1B2E"/>
                </a:solidFill>
                <a:latin typeface="Cambria Math"/>
                <a:ea typeface="Cambria Math"/>
                <a:cs typeface="Cambria Math"/>
              </a:rPr>
              <a:t>7(y + z)</a:t>
            </a: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277592035" name=""/>
          <p:cNvSpPr/>
          <p:nvPr/>
        </p:nvSpPr>
        <p:spPr bwMode="auto">
          <a:xfrm>
            <a:off x="171472" y="7860630"/>
            <a:ext cx="3298656" cy="18047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829484" name="Google Shape;180;p4"/>
          <p:cNvSpPr/>
          <p:nvPr/>
        </p:nvSpPr>
        <p:spPr bwMode="auto">
          <a:xfrm flipH="0" flipV="0">
            <a:off x="233330" y="232612"/>
            <a:ext cx="6996667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3:</a:t>
            </a:r>
            <a:r>
              <a: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9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Factorización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7406527" name="Google Shape;183;p4"/>
          <p:cNvSpPr/>
          <p:nvPr/>
        </p:nvSpPr>
        <p:spPr bwMode="auto">
          <a:xfrm>
            <a:off x="4253882" y="5343397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1624738" name=""/>
          <p:cNvSpPr/>
          <p:nvPr/>
        </p:nvSpPr>
        <p:spPr bwMode="auto">
          <a:xfrm>
            <a:off x="181498" y="7750341"/>
            <a:ext cx="3459078" cy="23060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42645" name=""/>
          <p:cNvSpPr/>
          <p:nvPr/>
        </p:nvSpPr>
        <p:spPr bwMode="auto">
          <a:xfrm>
            <a:off x="1667083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496293435" name=""/>
          <p:cNvSpPr/>
          <p:nvPr/>
        </p:nvSpPr>
        <p:spPr bwMode="auto">
          <a:xfrm>
            <a:off x="11566321" y="186712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819663280" name=""/>
          <p:cNvSpPr/>
          <p:nvPr/>
        </p:nvSpPr>
        <p:spPr bwMode="auto">
          <a:xfrm>
            <a:off x="6684629" y="3209472"/>
            <a:ext cx="958343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6x+9</a:t>
            </a: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841617519" name=""/>
          <p:cNvSpPr/>
          <p:nvPr/>
        </p:nvSpPr>
        <p:spPr bwMode="auto">
          <a:xfrm>
            <a:off x="171472" y="7860630"/>
            <a:ext cx="3298656" cy="18047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355850" name="Google Shape;180;p4"/>
          <p:cNvSpPr/>
          <p:nvPr/>
        </p:nvSpPr>
        <p:spPr bwMode="auto">
          <a:xfrm flipH="0" flipV="0">
            <a:off x="233330" y="232612"/>
            <a:ext cx="6996667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3:</a:t>
            </a:r>
            <a:r>
              <a: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9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Factorización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2651117" name="Google Shape;183;p4"/>
          <p:cNvSpPr/>
          <p:nvPr/>
        </p:nvSpPr>
        <p:spPr bwMode="auto">
          <a:xfrm>
            <a:off x="4253882" y="5343397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3904500" name=""/>
          <p:cNvSpPr/>
          <p:nvPr/>
        </p:nvSpPr>
        <p:spPr bwMode="auto">
          <a:xfrm>
            <a:off x="181498" y="7750341"/>
            <a:ext cx="3459078" cy="23060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7341074" name=""/>
          <p:cNvSpPr/>
          <p:nvPr/>
        </p:nvSpPr>
        <p:spPr bwMode="auto">
          <a:xfrm>
            <a:off x="1667083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573285637" name=""/>
          <p:cNvSpPr/>
          <p:nvPr/>
        </p:nvSpPr>
        <p:spPr bwMode="auto">
          <a:xfrm>
            <a:off x="11566321" y="186712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169789454" name=""/>
          <p:cNvSpPr/>
          <p:nvPr/>
        </p:nvSpPr>
        <p:spPr bwMode="auto">
          <a:xfrm>
            <a:off x="5886351" y="3209472"/>
            <a:ext cx="2559577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6x+9 = </a:t>
            </a:r>
            <a:r>
              <a:rPr sz="2800">
                <a:solidFill>
                  <a:srgbClr val="DA1B2E"/>
                </a:solidFill>
                <a:latin typeface="Cambria Math"/>
                <a:ea typeface="Cambria Math"/>
                <a:cs typeface="Cambria Math"/>
              </a:rPr>
              <a:t>3(2x+3)</a:t>
            </a: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933302734" name=""/>
          <p:cNvSpPr/>
          <p:nvPr/>
        </p:nvSpPr>
        <p:spPr bwMode="auto">
          <a:xfrm>
            <a:off x="171472" y="7860630"/>
            <a:ext cx="3298656" cy="18047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970296" name="Google Shape;180;p4"/>
          <p:cNvSpPr/>
          <p:nvPr/>
        </p:nvSpPr>
        <p:spPr bwMode="auto">
          <a:xfrm flipH="0" flipV="0">
            <a:off x="233330" y="232612"/>
            <a:ext cx="6996667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4:</a:t>
            </a:r>
            <a:r>
              <a: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9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Factorización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9382157" name="Google Shape;183;p4"/>
          <p:cNvSpPr/>
          <p:nvPr/>
        </p:nvSpPr>
        <p:spPr bwMode="auto">
          <a:xfrm>
            <a:off x="4253882" y="5343397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4224322" name=""/>
          <p:cNvSpPr/>
          <p:nvPr/>
        </p:nvSpPr>
        <p:spPr bwMode="auto">
          <a:xfrm>
            <a:off x="181498" y="7750341"/>
            <a:ext cx="3459078" cy="23060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433964" name=""/>
          <p:cNvSpPr/>
          <p:nvPr/>
        </p:nvSpPr>
        <p:spPr bwMode="auto">
          <a:xfrm>
            <a:off x="1667083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950135726" name=""/>
          <p:cNvSpPr/>
          <p:nvPr/>
        </p:nvSpPr>
        <p:spPr bwMode="auto">
          <a:xfrm>
            <a:off x="11566321" y="186712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808308118" name=""/>
          <p:cNvSpPr/>
          <p:nvPr/>
        </p:nvSpPr>
        <p:spPr bwMode="auto">
          <a:xfrm>
            <a:off x="6540873" y="3209472"/>
            <a:ext cx="1255213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sSup>
                        <m:sSupPr>
                          <m:ctrlPr>
                            <a:rPr lang="en-US" sz="2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+2</m:t>
                      </m:r>
                    </m:oMath>
                  </m:oMathPara>
                </a14:m>
              </mc:Choice>
              <mc:Fallback/>
            </mc:AlternateContent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009517744" name=""/>
          <p:cNvSpPr/>
          <p:nvPr/>
        </p:nvSpPr>
        <p:spPr bwMode="auto">
          <a:xfrm>
            <a:off x="171472" y="7860630"/>
            <a:ext cx="3298656" cy="18047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6393884" name=""/>
          <p:cNvSpPr/>
          <p:nvPr/>
        </p:nvSpPr>
        <p:spPr bwMode="auto">
          <a:xfrm>
            <a:off x="7074322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772917" name="Google Shape;180;p4"/>
          <p:cNvSpPr/>
          <p:nvPr/>
        </p:nvSpPr>
        <p:spPr bwMode="auto">
          <a:xfrm flipH="0" flipV="0">
            <a:off x="233329" y="232611"/>
            <a:ext cx="6996666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4:</a:t>
            </a:r>
            <a:r>
              <a: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9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Factorización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0888810" name="Google Shape;183;p4"/>
          <p:cNvSpPr/>
          <p:nvPr/>
        </p:nvSpPr>
        <p:spPr bwMode="auto">
          <a:xfrm>
            <a:off x="4253881" y="5343396"/>
            <a:ext cx="6530100" cy="75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4791526" name=""/>
          <p:cNvSpPr/>
          <p:nvPr/>
        </p:nvSpPr>
        <p:spPr bwMode="auto">
          <a:xfrm>
            <a:off x="181497" y="7750341"/>
            <a:ext cx="3459078" cy="23060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806198" name=""/>
          <p:cNvSpPr/>
          <p:nvPr/>
        </p:nvSpPr>
        <p:spPr bwMode="auto">
          <a:xfrm>
            <a:off x="1667082" y="3209472"/>
            <a:ext cx="183636" cy="5185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429611006" name=""/>
          <p:cNvSpPr/>
          <p:nvPr/>
        </p:nvSpPr>
        <p:spPr bwMode="auto">
          <a:xfrm>
            <a:off x="11566320" y="186711"/>
            <a:ext cx="183636" cy="30515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87582293" name=""/>
          <p:cNvSpPr/>
          <p:nvPr/>
        </p:nvSpPr>
        <p:spPr bwMode="auto">
          <a:xfrm>
            <a:off x="5480919" y="3209472"/>
            <a:ext cx="3381599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sSup>
                        <m:sSupPr>
                          <m:ctrlPr>
                            <a:rPr lang="en-US" sz="2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+2x = </m:t>
                      </m:r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DA1B2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2x(x+1)</m:t>
                      </m:r>
                    </m:oMath>
                  </m:oMathPara>
                </a14:m>
              </mc:Choice>
              <mc:Fallback/>
            </mc:AlternateContent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461408512" name=""/>
          <p:cNvSpPr/>
          <p:nvPr/>
        </p:nvSpPr>
        <p:spPr bwMode="auto">
          <a:xfrm>
            <a:off x="171471" y="7860629"/>
            <a:ext cx="3298655" cy="180471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3481322" name=""/>
          <p:cNvSpPr/>
          <p:nvPr/>
        </p:nvSpPr>
        <p:spPr bwMode="auto">
          <a:xfrm>
            <a:off x="7074322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36822" name="Google Shape;180;p4"/>
          <p:cNvSpPr/>
          <p:nvPr/>
        </p:nvSpPr>
        <p:spPr bwMode="auto">
          <a:xfrm flipH="0" flipV="0">
            <a:off x="233329" y="232611"/>
            <a:ext cx="6996666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5:</a:t>
            </a:r>
            <a:r>
              <a: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9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Factorización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26378723" name="Google Shape;183;p4"/>
          <p:cNvSpPr/>
          <p:nvPr/>
        </p:nvSpPr>
        <p:spPr bwMode="auto">
          <a:xfrm>
            <a:off x="4253881" y="5343396"/>
            <a:ext cx="6530100" cy="75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568829" name=""/>
          <p:cNvSpPr/>
          <p:nvPr/>
        </p:nvSpPr>
        <p:spPr bwMode="auto">
          <a:xfrm>
            <a:off x="181497" y="7750341"/>
            <a:ext cx="3459078" cy="23060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44921" name=""/>
          <p:cNvSpPr/>
          <p:nvPr/>
        </p:nvSpPr>
        <p:spPr bwMode="auto">
          <a:xfrm>
            <a:off x="1667082" y="3209472"/>
            <a:ext cx="183636" cy="5185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323024996" name=""/>
          <p:cNvSpPr/>
          <p:nvPr/>
        </p:nvSpPr>
        <p:spPr bwMode="auto">
          <a:xfrm>
            <a:off x="11566320" y="186711"/>
            <a:ext cx="183636" cy="30515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2082317000" name=""/>
          <p:cNvSpPr/>
          <p:nvPr/>
        </p:nvSpPr>
        <p:spPr bwMode="auto">
          <a:xfrm>
            <a:off x="5711208" y="3209472"/>
            <a:ext cx="2932541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ax + bx + ay + by</a:t>
            </a: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454928481" name=""/>
          <p:cNvSpPr/>
          <p:nvPr/>
        </p:nvSpPr>
        <p:spPr bwMode="auto">
          <a:xfrm>
            <a:off x="171471" y="7860629"/>
            <a:ext cx="3298655" cy="180471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9128893" name=""/>
          <p:cNvSpPr/>
          <p:nvPr/>
        </p:nvSpPr>
        <p:spPr bwMode="auto">
          <a:xfrm>
            <a:off x="7074322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882" name="Google Shape;180;p4"/>
          <p:cNvSpPr/>
          <p:nvPr/>
        </p:nvSpPr>
        <p:spPr bwMode="auto">
          <a:xfrm flipH="0" flipV="0">
            <a:off x="233329" y="232611"/>
            <a:ext cx="6996666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5:</a:t>
            </a:r>
            <a:r>
              <a: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9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Factorización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436822" name="Google Shape;183;p4"/>
          <p:cNvSpPr/>
          <p:nvPr/>
        </p:nvSpPr>
        <p:spPr bwMode="auto">
          <a:xfrm>
            <a:off x="4253881" y="5343396"/>
            <a:ext cx="6530100" cy="75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1423663" name=""/>
          <p:cNvSpPr/>
          <p:nvPr/>
        </p:nvSpPr>
        <p:spPr bwMode="auto">
          <a:xfrm>
            <a:off x="181497" y="7750341"/>
            <a:ext cx="3459078" cy="23060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3049491" name=""/>
          <p:cNvSpPr/>
          <p:nvPr/>
        </p:nvSpPr>
        <p:spPr bwMode="auto">
          <a:xfrm>
            <a:off x="1667082" y="3209472"/>
            <a:ext cx="183636" cy="5185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711296207" name=""/>
          <p:cNvSpPr/>
          <p:nvPr/>
        </p:nvSpPr>
        <p:spPr bwMode="auto">
          <a:xfrm>
            <a:off x="11566320" y="186711"/>
            <a:ext cx="183636" cy="30515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473259858" name=""/>
          <p:cNvSpPr/>
          <p:nvPr/>
        </p:nvSpPr>
        <p:spPr bwMode="auto">
          <a:xfrm>
            <a:off x="4146328" y="3209472"/>
            <a:ext cx="6095422" cy="22253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ax + bx + ay + by = ax + ay + bx + by</a:t>
            </a:r>
            <a:endParaRPr sz="2800"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= a(x + y) + b(x + y)</a:t>
            </a:r>
            <a:endParaRPr sz="2800"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r>
              <a:rPr sz="2800">
                <a:latin typeface="Cambria Math"/>
                <a:ea typeface="Cambria Math"/>
                <a:cs typeface="Cambria Math"/>
              </a:rPr>
              <a:t>= </a:t>
            </a:r>
            <a:r>
              <a:rPr sz="2800">
                <a:solidFill>
                  <a:srgbClr val="DA1B2E"/>
                </a:solidFill>
                <a:latin typeface="Cambria Math"/>
                <a:ea typeface="Cambria Math"/>
                <a:cs typeface="Cambria Math"/>
              </a:rPr>
              <a:t>(a + b)(x + y)</a:t>
            </a: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020017978" name=""/>
          <p:cNvSpPr/>
          <p:nvPr/>
        </p:nvSpPr>
        <p:spPr bwMode="auto">
          <a:xfrm>
            <a:off x="171471" y="7860629"/>
            <a:ext cx="3298655" cy="180471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7812392" name=""/>
          <p:cNvSpPr/>
          <p:nvPr/>
        </p:nvSpPr>
        <p:spPr bwMode="auto">
          <a:xfrm>
            <a:off x="7074322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408843" name="Google Shape;180;p4"/>
          <p:cNvSpPr/>
          <p:nvPr/>
        </p:nvSpPr>
        <p:spPr bwMode="auto">
          <a:xfrm flipH="0" flipV="0">
            <a:off x="233329" y="232611"/>
            <a:ext cx="6996666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6:</a:t>
            </a:r>
            <a:r>
              <a: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9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Factorización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591863" name="Google Shape;183;p4"/>
          <p:cNvSpPr/>
          <p:nvPr/>
        </p:nvSpPr>
        <p:spPr bwMode="auto">
          <a:xfrm>
            <a:off x="4253881" y="5343396"/>
            <a:ext cx="6530100" cy="75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045132" name=""/>
          <p:cNvSpPr/>
          <p:nvPr/>
        </p:nvSpPr>
        <p:spPr bwMode="auto">
          <a:xfrm>
            <a:off x="181497" y="7750341"/>
            <a:ext cx="3459078" cy="23060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25295294" name=""/>
          <p:cNvSpPr/>
          <p:nvPr/>
        </p:nvSpPr>
        <p:spPr bwMode="auto">
          <a:xfrm>
            <a:off x="1667082" y="3209472"/>
            <a:ext cx="183636" cy="5185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722351505" name=""/>
          <p:cNvSpPr/>
          <p:nvPr/>
        </p:nvSpPr>
        <p:spPr bwMode="auto">
          <a:xfrm>
            <a:off x="11566320" y="186711"/>
            <a:ext cx="183636" cy="30515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843021878" name=""/>
          <p:cNvSpPr/>
          <p:nvPr/>
        </p:nvSpPr>
        <p:spPr bwMode="auto">
          <a:xfrm>
            <a:off x="5443193" y="3209472"/>
            <a:ext cx="3465331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  <m:sSup>
                        <m:sSupPr>
                          <m:ctrlPr>
                            <a:rPr lang="en-US" sz="2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 + 10x</m:t>
                      </m:r>
                      <m:sSup>
                        <m:sSupPr>
                          <m:ctrlPr>
                            <a:rPr lang="en-US" sz="2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+15xy</m:t>
                      </m:r>
                    </m:oMath>
                  </m:oMathPara>
                </a14:m>
              </mc:Choice>
              <mc:Fallback/>
            </mc:AlternateContent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774697645" name=""/>
          <p:cNvSpPr/>
          <p:nvPr/>
        </p:nvSpPr>
        <p:spPr bwMode="auto">
          <a:xfrm>
            <a:off x="171471" y="7860629"/>
            <a:ext cx="3298655" cy="180471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5660527" name=""/>
          <p:cNvSpPr/>
          <p:nvPr/>
        </p:nvSpPr>
        <p:spPr bwMode="auto">
          <a:xfrm>
            <a:off x="7074322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304627" name="Google Shape;180;p4"/>
          <p:cNvSpPr/>
          <p:nvPr/>
        </p:nvSpPr>
        <p:spPr bwMode="auto">
          <a:xfrm flipH="0" flipV="0">
            <a:off x="233329" y="232611"/>
            <a:ext cx="6996666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Ejercicio 6:</a:t>
            </a:r>
            <a:r>
              <a: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9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Factorización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826656" name="Google Shape;183;p4"/>
          <p:cNvSpPr/>
          <p:nvPr/>
        </p:nvSpPr>
        <p:spPr bwMode="auto">
          <a:xfrm>
            <a:off x="4253881" y="5343396"/>
            <a:ext cx="6530100" cy="75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3596643" name=""/>
          <p:cNvSpPr/>
          <p:nvPr/>
        </p:nvSpPr>
        <p:spPr bwMode="auto">
          <a:xfrm>
            <a:off x="181497" y="7750341"/>
            <a:ext cx="3459078" cy="23060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373102" name=""/>
          <p:cNvSpPr/>
          <p:nvPr/>
        </p:nvSpPr>
        <p:spPr bwMode="auto">
          <a:xfrm>
            <a:off x="1667082" y="3209472"/>
            <a:ext cx="183636" cy="5185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457351681" name=""/>
          <p:cNvSpPr/>
          <p:nvPr/>
        </p:nvSpPr>
        <p:spPr bwMode="auto">
          <a:xfrm>
            <a:off x="11566320" y="186711"/>
            <a:ext cx="183636" cy="30515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2072545659" name=""/>
          <p:cNvSpPr/>
          <p:nvPr/>
        </p:nvSpPr>
        <p:spPr bwMode="auto">
          <a:xfrm>
            <a:off x="3820704" y="3209472"/>
            <a:ext cx="6725070" cy="5185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  <m:sSup>
                        <m:sSupPr>
                          <m:ctrlPr>
                            <a:rPr lang="en-US" sz="2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 + 10x</m:t>
                      </m:r>
                      <m:sSup>
                        <m:sSupPr>
                          <m:ctrlPr>
                            <a:rPr lang="en-US" sz="2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+15xy = </m:t>
                      </m:r>
                      <m:r>
                        <m:rPr>
                          <m:sty m:val="p"/>
                        </m:rPr>
                        <a:rPr lang="en-US" sz="2800" u="none" strike="noStrike" cap="none" spc="0">
                          <a:solidFill>
                            <a:srgbClr val="DA1B2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5xy(1x + 2y+3)</m:t>
                      </m:r>
                    </m:oMath>
                  </m:oMathPara>
                </a14:m>
              </mc:Choice>
              <mc:Fallback/>
            </mc:AlternateContent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2120937087" name=""/>
          <p:cNvSpPr/>
          <p:nvPr/>
        </p:nvSpPr>
        <p:spPr bwMode="auto">
          <a:xfrm>
            <a:off x="171471" y="7860629"/>
            <a:ext cx="3298655" cy="180471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8899841" name=""/>
          <p:cNvSpPr/>
          <p:nvPr/>
        </p:nvSpPr>
        <p:spPr bwMode="auto">
          <a:xfrm>
            <a:off x="7074322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5975423" name="Google Shape;727;p34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7604617" name="Google Shape;728;p34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676080" name="Google Shape;729;p34"/>
          <p:cNvSpPr/>
          <p:nvPr/>
        </p:nvSpPr>
        <p:spPr bwMode="auto">
          <a:xfrm>
            <a:off x="3872864" y="3179820"/>
            <a:ext cx="6884670" cy="86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400"/>
              <a:buFont typeface="Sora SemiBold"/>
              <a:buNone/>
              <a:defRPr/>
            </a:pPr>
            <a:r>
              <a:rPr lang="en-US" sz="5400" b="1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¿Preguntas?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89378" name="Google Shape;730;p34"/>
          <p:cNvSpPr/>
          <p:nvPr/>
        </p:nvSpPr>
        <p:spPr bwMode="auto">
          <a:xfrm>
            <a:off x="4904660" y="4174212"/>
            <a:ext cx="4820960" cy="49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100"/>
              <a:buFont typeface="Sora SemiBold"/>
              <a:buNone/>
              <a:defRPr/>
            </a:pPr>
            <a:r>
              <a:rPr lang="en-US" sz="3100" b="1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Gracias por su atención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6491374" name="Google Shape;731;p34"/>
          <p:cNvSpPr/>
          <p:nvPr/>
        </p:nvSpPr>
        <p:spPr bwMode="auto">
          <a:xfrm>
            <a:off x="758309" y="4957405"/>
            <a:ext cx="13113781" cy="24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50"/>
              <a:buFont typeface="Sora"/>
              <a:buNone/>
              <a:defRPr/>
            </a:pPr>
            <a:r>
              <a:rPr lang="en-US" sz="1150" b="1" i="0" u="none" strike="noStrike" cap="none">
                <a:solidFill>
                  <a:srgbClr val="3B3535"/>
                </a:solidFill>
                <a:latin typeface="Calibri"/>
                <a:ea typeface="Calibri"/>
                <a:cs typeface="Calibri"/>
              </a:rPr>
              <a:t>Universidad Nacional – Tutoría: Matemática General</a:t>
            </a:r>
            <a:endParaRPr sz="115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802718768" name="Google Shape;733;p34" descr="preencoded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556951" y="1505425"/>
            <a:ext cx="151638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291175" name="Google Shape;180;p4"/>
          <p:cNvSpPr/>
          <p:nvPr/>
        </p:nvSpPr>
        <p:spPr bwMode="auto">
          <a:xfrm flipH="0" flipV="0">
            <a:off x="233329" y="232611"/>
            <a:ext cx="6996666" cy="62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  <a:defRPr/>
            </a:pPr>
            <a:r>
              <a:rPr lang="en-US" sz="3900" b="0" i="0" u="none" strike="noStrike" cap="none">
                <a:solidFill>
                  <a:srgbClr val="1F1E1E"/>
                </a:solidFill>
                <a:latin typeface="Calibri"/>
                <a:ea typeface="Calibri"/>
                <a:cs typeface="Calibri"/>
              </a:rPr>
              <a:t>Tarea: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1632069" name="Google Shape;183;p4"/>
          <p:cNvSpPr/>
          <p:nvPr/>
        </p:nvSpPr>
        <p:spPr bwMode="auto">
          <a:xfrm>
            <a:off x="4253881" y="5343396"/>
            <a:ext cx="6530100" cy="75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3792072" name=""/>
          <p:cNvSpPr/>
          <p:nvPr/>
        </p:nvSpPr>
        <p:spPr bwMode="auto">
          <a:xfrm>
            <a:off x="181497" y="7750341"/>
            <a:ext cx="3459078" cy="23060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4295547" name=""/>
          <p:cNvSpPr/>
          <p:nvPr/>
        </p:nvSpPr>
        <p:spPr bwMode="auto">
          <a:xfrm>
            <a:off x="1667082" y="3209472"/>
            <a:ext cx="183636" cy="5185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sp>
        <p:nvSpPr>
          <p:cNvPr id="967684854" name=""/>
          <p:cNvSpPr/>
          <p:nvPr/>
        </p:nvSpPr>
        <p:spPr bwMode="auto">
          <a:xfrm>
            <a:off x="11566320" y="186711"/>
            <a:ext cx="183636" cy="30515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461447171" name=""/>
          <p:cNvSpPr/>
          <p:nvPr/>
        </p:nvSpPr>
        <p:spPr bwMode="auto">
          <a:xfrm>
            <a:off x="171471" y="7860629"/>
            <a:ext cx="3298655" cy="180471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9447507" name=""/>
          <p:cNvSpPr/>
          <p:nvPr/>
        </p:nvSpPr>
        <p:spPr bwMode="auto">
          <a:xfrm>
            <a:off x="7074322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 sz="280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1853450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78810" y="3609473"/>
            <a:ext cx="4391024" cy="609599"/>
          </a:xfrm>
          <a:prstGeom prst="rect">
            <a:avLst/>
          </a:prstGeom>
        </p:spPr>
      </p:pic>
      <p:sp>
        <p:nvSpPr>
          <p:cNvPr id="116602697" name="Google Shape;183;p4"/>
          <p:cNvSpPr/>
          <p:nvPr/>
        </p:nvSpPr>
        <p:spPr bwMode="auto">
          <a:xfrm flipH="0" flipV="0">
            <a:off x="4955348" y="2506205"/>
            <a:ext cx="4237947" cy="75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  <a:defRPr/>
            </a:pPr>
            <a:r>
              <a:rPr lang="en-US" sz="1850" b="1" i="0" u="none" strike="noStrike" cap="none">
                <a:solidFill>
                  <a:srgbClr val="DA1B2E"/>
                </a:solidFill>
                <a:latin typeface="Calibri"/>
                <a:ea typeface="Calibri"/>
                <a:cs typeface="Calibri"/>
              </a:rPr>
              <a:t>DEMOSTRAR la siguiente fórmula notable: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</cp:revision>
  <dcterms:created xsi:type="dcterms:W3CDTF">2026-02-07T04:44:42Z</dcterms:created>
  <dcterms:modified xsi:type="dcterms:W3CDTF">2026-02-25T06:39:54Z</dcterms:modified>
</cp:coreProperties>
</file>